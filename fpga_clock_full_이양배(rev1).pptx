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73" r:id="rId3"/>
    <p:sldId id="257" r:id="rId4"/>
    <p:sldId id="258" r:id="rId5"/>
    <p:sldId id="275" r:id="rId6"/>
    <p:sldId id="276" r:id="rId7"/>
    <p:sldId id="261" r:id="rId8"/>
    <p:sldId id="262" r:id="rId9"/>
    <p:sldId id="263" r:id="rId10"/>
    <p:sldId id="264" r:id="rId11"/>
    <p:sldId id="277" r:id="rId12"/>
    <p:sldId id="278" r:id="rId13"/>
    <p:sldId id="267" r:id="rId14"/>
    <p:sldId id="281" r:id="rId15"/>
    <p:sldId id="283" r:id="rId16"/>
    <p:sldId id="282" r:id="rId17"/>
    <p:sldId id="287" r:id="rId18"/>
    <p:sldId id="288" r:id="rId19"/>
    <p:sldId id="289" r:id="rId20"/>
    <p:sldId id="290" r:id="rId21"/>
    <p:sldId id="291" r:id="rId22"/>
    <p:sldId id="304" r:id="rId23"/>
    <p:sldId id="292" r:id="rId24"/>
    <p:sldId id="293" r:id="rId25"/>
    <p:sldId id="295" r:id="rId26"/>
    <p:sldId id="294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4" autoAdjust="0"/>
    <p:restoredTop sz="95458" autoAdjust="0"/>
  </p:normalViewPr>
  <p:slideViewPr>
    <p:cSldViewPr snapToGrid="0">
      <p:cViewPr varScale="1">
        <p:scale>
          <a:sx n="91" d="100"/>
          <a:sy n="91" d="100"/>
        </p:scale>
        <p:origin x="9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8644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1873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9741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6178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8617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99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796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2330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8475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5647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8976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9448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0946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74503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7822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52644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4133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3286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059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52994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2901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53674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68778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478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46556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41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60EFA75-7F61-432A-994C-64ECC0555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1D91BB2-C329-4AE1-AFA2-67849159C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3B6FD89-0D82-4F1D-B9B3-B964F519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30C8D0A-FA8E-437C-AD21-854861B95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FBC12F0-CB46-4DD4-A1A1-05960FD2C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24A5B1-441F-40A1-A1D3-07D31FA2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40D3943-A6AB-44DD-A718-AC8D56F6A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BF97426-0379-452A-8318-F6A95CC589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103BB4-69FC-4FC8-912F-966E05D4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F9550A7-857F-43D8-8E1C-ABDB55D44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28B6A0B-BE89-45E5-93A8-3C2FD9092ACE}"/>
              </a:ext>
            </a:extLst>
          </p:cNvPr>
          <p:cNvSpPr>
            <a:spLocks noGrp="1"/>
          </p:cNvSpPr>
          <p:nvPr/>
        </p:nvSpPr>
        <p:spPr>
          <a:xfrm>
            <a:off x="762000" y="809625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FPGA DESIGN PROJECT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C85B7A-139A-425C-AF4A-C07565703DF6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06680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FPGA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디지털</a:t>
            </a: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endParaRPr sz="450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및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구현</a:t>
            </a:r>
            <a:endParaRPr sz="450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37BBF8-29B3-400B-A084-2375FC5B0CB5}"/>
              </a:ext>
            </a:extLst>
          </p:cNvPr>
          <p:cNvSpPr>
            <a:spLocks noGrp="1"/>
          </p:cNvSpPr>
          <p:nvPr/>
        </p:nvSpPr>
        <p:spPr>
          <a:xfrm>
            <a:off x="790575" y="38576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Verilog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HDL을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활용한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제어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및 7-Segment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1875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CC1337-19B4-49C2-949D-49DC884925E0}"/>
              </a:ext>
            </a:extLst>
          </p:cNvPr>
          <p:cNvSpPr>
            <a:spLocks noGrp="1"/>
          </p:cNvSpPr>
          <p:nvPr/>
        </p:nvSpPr>
        <p:spPr>
          <a:xfrm>
            <a:off x="790575" y="4695825"/>
            <a:ext cx="10525125" cy="9525"/>
          </a:xfrm>
          <a:prstGeom prst="rect">
            <a:avLst/>
          </a:prstGeom>
          <a:solidFill>
            <a:srgbClr val="254D78"/>
          </a:solidFill>
          <a:ln w="14288">
            <a:solidFill>
              <a:srgbClr val="254D78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E702DB-E5C1-461B-89A0-DF5ECE4B3ABD}"/>
              </a:ext>
            </a:extLst>
          </p:cNvPr>
          <p:cNvSpPr>
            <a:spLocks noGrp="1"/>
          </p:cNvSpPr>
          <p:nvPr/>
        </p:nvSpPr>
        <p:spPr>
          <a:xfrm>
            <a:off x="790575" y="49911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0" dirty="0" err="1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이양배</a:t>
            </a:r>
            <a:endParaRPr sz="1650" b="0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739160-683C-4553-BF21-85A15A46D062}"/>
              </a:ext>
            </a:extLst>
          </p:cNvPr>
          <p:cNvSpPr>
            <a:spLocks noGrp="1"/>
          </p:cNvSpPr>
          <p:nvPr/>
        </p:nvSpPr>
        <p:spPr>
          <a:xfrm>
            <a:off x="11020425" y="60579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E702DB-E5C1-461B-89A0-DF5ECE4B3ABD}"/>
              </a:ext>
            </a:extLst>
          </p:cNvPr>
          <p:cNvSpPr>
            <a:spLocks noGrp="1"/>
          </p:cNvSpPr>
          <p:nvPr/>
        </p:nvSpPr>
        <p:spPr>
          <a:xfrm>
            <a:off x="762000" y="6200775"/>
            <a:ext cx="7704189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400" b="0" dirty="0" smtClean="0">
                <a:solidFill>
                  <a:schemeClr val="bg1">
                    <a:lumMod val="50000"/>
                  </a:schemeClr>
                </a:solidFill>
              </a:rPr>
              <a:t>대한상공회의소 서울기술교육센터 </a:t>
            </a:r>
            <a:r>
              <a:rPr lang="en-US" altLang="ko-KR" sz="1400" b="0" dirty="0" smtClean="0">
                <a:solidFill>
                  <a:schemeClr val="bg1">
                    <a:lumMod val="50000"/>
                  </a:schemeClr>
                </a:solidFill>
              </a:rPr>
              <a:t>AI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시스템 반도체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SW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개발자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기</a:t>
            </a:r>
            <a:r>
              <a:rPr lang="ko-KR" altLang="en-US" sz="1400" b="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41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F1D119-2313-4A20-BB0F-17436A92A09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33E56F-D6AC-46B9-83F9-4B49CF93153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0FE6DD-07EF-4F66-8C67-FB136474567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D02E75-EE5A-4AB4-A256-6A43A008DBE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16F8EC-F2C2-443F-B349-2A86ACBE204B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86A6B9-F7E7-456C-9AA9-86E86B29CD9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FEA8EE-ECCD-4655-A417-0B25A8EC6069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8163DE-EA11-40D9-A42D-BF619D01E0DC}"/>
              </a:ext>
            </a:extLst>
          </p:cNvPr>
          <p:cNvSpPr>
            <a:spLocks noGrp="1"/>
          </p:cNvSpPr>
          <p:nvPr/>
        </p:nvSpPr>
        <p:spPr>
          <a:xfrm>
            <a:off x="1447800" y="2105025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570218-A26B-4A4F-95C0-1B73DB64EBE6}"/>
              </a:ext>
            </a:extLst>
          </p:cNvPr>
          <p:cNvSpPr>
            <a:spLocks noGrp="1"/>
          </p:cNvSpPr>
          <p:nvPr/>
        </p:nvSpPr>
        <p:spPr>
          <a:xfrm>
            <a:off x="1447800" y="26479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프로젝트 소개 및 주요 기능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069CC8-6883-441F-B36B-23D4F00921DF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E0451E-FA3E-4ACD-B0D4-E8A3AC604924}"/>
              </a:ext>
            </a:extLst>
          </p:cNvPr>
          <p:cNvSpPr>
            <a:spLocks noGrp="1"/>
          </p:cNvSpPr>
          <p:nvPr/>
        </p:nvSpPr>
        <p:spPr>
          <a:xfrm>
            <a:off x="1447800" y="3524250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구현</a:t>
            </a:r>
            <a:endParaRPr sz="22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53CB8F-7884-4830-80E3-9CB06C3D8006}"/>
              </a:ext>
            </a:extLst>
          </p:cNvPr>
          <p:cNvSpPr>
            <a:spLocks noGrp="1"/>
          </p:cNvSpPr>
          <p:nvPr/>
        </p:nvSpPr>
        <p:spPr>
          <a:xfrm>
            <a:off x="1447800" y="4067175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Block Diagram / FSM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60F9F1-8BC9-4D70-B743-C7156D3D33A0}"/>
              </a:ext>
            </a:extLst>
          </p:cNvPr>
          <p:cNvSpPr>
            <a:spLocks noGrp="1"/>
          </p:cNvSpPr>
          <p:nvPr/>
        </p:nvSpPr>
        <p:spPr>
          <a:xfrm>
            <a:off x="1447800" y="44767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Source Code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BCCE69-1071-4A93-A09B-8DABB7CB16A2}"/>
              </a:ext>
            </a:extLst>
          </p:cNvPr>
          <p:cNvSpPr>
            <a:spLocks noGrp="1"/>
          </p:cNvSpPr>
          <p:nvPr/>
        </p:nvSpPr>
        <p:spPr>
          <a:xfrm>
            <a:off x="1447800" y="488632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Testbench 작성 / Timing Chart 분석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46D253-E87D-4839-AB77-FBA75F4640BD}"/>
              </a:ext>
            </a:extLst>
          </p:cNvPr>
          <p:cNvSpPr>
            <a:spLocks noGrp="1"/>
          </p:cNvSpPr>
          <p:nvPr/>
        </p:nvSpPr>
        <p:spPr>
          <a:xfrm>
            <a:off x="1447800" y="52959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동작 동영상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D54EDE-86E4-4914-BC92-C69B6D2BF330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C76E1F-7B43-4402-95AF-73761FBCD158}"/>
              </a:ext>
            </a:extLst>
          </p:cNvPr>
          <p:cNvSpPr>
            <a:spLocks noGrp="1"/>
          </p:cNvSpPr>
          <p:nvPr/>
        </p:nvSpPr>
        <p:spPr>
          <a:xfrm>
            <a:off x="7286625" y="2105025"/>
            <a:ext cx="43338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Trouble Shooting 및 구현 후기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A3FB38-77F3-4B96-818A-D464D11F5662}"/>
              </a:ext>
            </a:extLst>
          </p:cNvPr>
          <p:cNvSpPr>
            <a:spLocks noGrp="1"/>
          </p:cNvSpPr>
          <p:nvPr/>
        </p:nvSpPr>
        <p:spPr>
          <a:xfrm>
            <a:off x="7286625" y="26479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문제 해결 과정 및 개선 방향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5B3C32C-3EB0-4583-B570-325236FCE5B8}"/>
              </a:ext>
            </a:extLst>
          </p:cNvPr>
          <p:cNvSpPr>
            <a:spLocks noGrp="1"/>
          </p:cNvSpPr>
          <p:nvPr/>
        </p:nvSpPr>
        <p:spPr>
          <a:xfrm>
            <a:off x="6524625" y="34956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8B61716-F57D-4302-B2DA-FEE1A82E522D}"/>
              </a:ext>
            </a:extLst>
          </p:cNvPr>
          <p:cNvSpPr>
            <a:spLocks noGrp="1"/>
          </p:cNvSpPr>
          <p:nvPr/>
        </p:nvSpPr>
        <p:spPr>
          <a:xfrm>
            <a:off x="7286625" y="3524250"/>
            <a:ext cx="43338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Background 기술 Summary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7EB515-3094-4CCF-A62A-9282DD1FB81D}"/>
              </a:ext>
            </a:extLst>
          </p:cNvPr>
          <p:cNvSpPr>
            <a:spLocks noGrp="1"/>
          </p:cNvSpPr>
          <p:nvPr/>
        </p:nvSpPr>
        <p:spPr>
          <a:xfrm>
            <a:off x="7286625" y="4067175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Setup / Hold Time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832F80-0734-4197-A3F6-66D700A045FA}"/>
              </a:ext>
            </a:extLst>
          </p:cNvPr>
          <p:cNvSpPr>
            <a:spLocks noGrp="1"/>
          </p:cNvSpPr>
          <p:nvPr/>
        </p:nvSpPr>
        <p:spPr>
          <a:xfrm>
            <a:off x="7286625" y="44767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Metastability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CFD667-E58C-48FC-9FA9-746B7E721487}"/>
              </a:ext>
            </a:extLst>
          </p:cNvPr>
          <p:cNvSpPr>
            <a:spLocks noGrp="1"/>
          </p:cNvSpPr>
          <p:nvPr/>
        </p:nvSpPr>
        <p:spPr>
          <a:xfrm>
            <a:off x="7286625" y="4886325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Glitch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CC7C21-A534-4D46-9E34-88C62497005D}"/>
              </a:ext>
            </a:extLst>
          </p:cNvPr>
          <p:cNvSpPr>
            <a:spLocks noGrp="1"/>
          </p:cNvSpPr>
          <p:nvPr/>
        </p:nvSpPr>
        <p:spPr>
          <a:xfrm>
            <a:off x="7286625" y="52959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Fan-out</a:t>
            </a:r>
          </a:p>
        </p:txBody>
      </p:sp>
    </p:spTree>
    <p:extLst>
      <p:ext uri="{BB962C8B-B14F-4D97-AF65-F5344CB8AC3E}">
        <p14:creationId xmlns:p14="http://schemas.microsoft.com/office/powerpoint/2010/main" val="387994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062D3E-5863-4AD4-AB96-7E85A861E50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01  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7561EB-C474-48EF-AB03-BA928E261F3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2E2E3E-4751-4B7A-8268-60D7BF9691D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79EEBC-B990-4F3A-9015-548A9674401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F9A0D9-C6BB-42F0-B914-474D32A8AFE0}"/>
              </a:ext>
            </a:extLst>
          </p:cNvPr>
          <p:cNvSpPr>
            <a:spLocks noGrp="1"/>
          </p:cNvSpPr>
          <p:nvPr/>
        </p:nvSpPr>
        <p:spPr>
          <a:xfrm>
            <a:off x="685800" y="646607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8C0C1A-742B-40E6-A6B7-BDB8BB32F84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195109-DEA9-4FF3-A47E-B6E47D6D6830}"/>
              </a:ext>
            </a:extLst>
          </p:cNvPr>
          <p:cNvSpPr>
            <a:spLocks noGrp="1"/>
          </p:cNvSpPr>
          <p:nvPr/>
        </p:nvSpPr>
        <p:spPr>
          <a:xfrm>
            <a:off x="685800" y="2235293"/>
            <a:ext cx="10580914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시계와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스톱워치의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계수</a:t>
            </a:r>
            <a:r>
              <a:rPr 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&amp;</a:t>
            </a:r>
            <a:r>
              <a:rPr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FND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</a:t>
            </a:r>
            <a:r>
              <a:rPr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통합</a:t>
            </a:r>
            <a:r>
              <a:rPr 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및 </a:t>
            </a:r>
            <a:r>
              <a:rPr lang="en-US" altLang="ko-KR" dirty="0" smtClean="0"/>
              <a:t>Verilog </a:t>
            </a:r>
            <a:r>
              <a:rPr lang="ko-KR" altLang="en-US" dirty="0" smtClean="0"/>
              <a:t>이해</a:t>
            </a:r>
            <a:r>
              <a:rPr lang="ko-KR" alt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210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E2E849-0952-49BE-9F7A-A376A1D4F508}"/>
              </a:ext>
            </a:extLst>
          </p:cNvPr>
          <p:cNvSpPr>
            <a:spLocks noGrp="1"/>
          </p:cNvSpPr>
          <p:nvPr/>
        </p:nvSpPr>
        <p:spPr>
          <a:xfrm>
            <a:off x="685800" y="3132365"/>
            <a:ext cx="113211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범위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B3F005-DF07-407F-BA55-63441E6AF89D}"/>
              </a:ext>
            </a:extLst>
          </p:cNvPr>
          <p:cNvSpPr>
            <a:spLocks noGrp="1"/>
          </p:cNvSpPr>
          <p:nvPr/>
        </p:nvSpPr>
        <p:spPr>
          <a:xfrm>
            <a:off x="685800" y="3608615"/>
            <a:ext cx="60960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분·초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시계와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0.01초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단위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endParaRPr sz="195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버튼에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따른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실행·정지·재개·초기화</a:t>
            </a:r>
            <a:endParaRPr sz="195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대기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후 FND </a:t>
            </a:r>
            <a:r>
              <a:rPr sz="195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endParaRPr lang="en-US" sz="195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분</a:t>
            </a:r>
            <a:r>
              <a:rPr lang="en-US" altLang="ko-KR" dirty="0"/>
              <a:t>·</a:t>
            </a:r>
            <a:r>
              <a:rPr lang="ko-KR" altLang="en-US" dirty="0"/>
              <a:t>초 </a:t>
            </a:r>
            <a:r>
              <a:rPr lang="ko-KR" altLang="en-US" dirty="0" smtClean="0"/>
              <a:t>시계 </a:t>
            </a:r>
            <a:r>
              <a:rPr lang="en-US" altLang="ko-KR" dirty="0" smtClean="0"/>
              <a:t>: 1</a:t>
            </a:r>
            <a:r>
              <a:rPr lang="ko-KR" altLang="en-US" dirty="0" smtClean="0"/>
              <a:t>초마다 점이 깜빡임</a:t>
            </a:r>
            <a:endParaRPr lang="en-US" sz="195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090349-5698-4E17-9876-643156539EB7}"/>
              </a:ext>
            </a:extLst>
          </p:cNvPr>
          <p:cNvSpPr>
            <a:spLocks noGrp="1"/>
          </p:cNvSpPr>
          <p:nvPr/>
        </p:nvSpPr>
        <p:spPr>
          <a:xfrm>
            <a:off x="685800" y="525644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C7DFA3-A37D-4718-93AB-BA2901348F02}"/>
              </a:ext>
            </a:extLst>
          </p:cNvPr>
          <p:cNvSpPr>
            <a:spLocks noGrp="1"/>
          </p:cNvSpPr>
          <p:nvPr/>
        </p:nvSpPr>
        <p:spPr>
          <a:xfrm>
            <a:off x="685800" y="5704115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Verilog HDL / </a:t>
            </a: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Vivado</a:t>
            </a:r>
            <a:r>
              <a:rPr lang="en-US"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2020.2</a:t>
            </a:r>
            <a:r>
              <a:rPr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Basys</a:t>
            </a:r>
            <a:r>
              <a:rPr lang="en-US"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D3F4B0-1249-4E5D-9F8D-C0DFD6001402}"/>
              </a:ext>
            </a:extLst>
          </p:cNvPr>
          <p:cNvSpPr>
            <a:spLocks noGrp="1"/>
          </p:cNvSpPr>
          <p:nvPr/>
        </p:nvSpPr>
        <p:spPr>
          <a:xfrm>
            <a:off x="5116286" y="2833963"/>
            <a:ext cx="6389914" cy="3282492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29" y="2975990"/>
            <a:ext cx="4493433" cy="299843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E2E849-0952-49BE-9F7A-A376A1D4F508}"/>
              </a:ext>
            </a:extLst>
          </p:cNvPr>
          <p:cNvSpPr>
            <a:spLocks noGrp="1"/>
          </p:cNvSpPr>
          <p:nvPr/>
        </p:nvSpPr>
        <p:spPr>
          <a:xfrm>
            <a:off x="685800" y="1833562"/>
            <a:ext cx="113211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목적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7728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061700F-B3BE-4422-BD14-817FB65193F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01  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E6C9FE-3C2B-49A8-B5D5-468FF7E69E0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주요 기능 및 사용자 조작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5EBC45-0C49-42FF-84D1-4146931BB276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82F118-438B-4F93-86DA-B4789E85C62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004EAD-4E1C-4CCA-98DD-DEC0A1EE0F64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B5995D-AF36-4A00-B293-72ACBD099BC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9" name="표 18"/>
          <p:cNvGraphicFramePr/>
          <p:nvPr>
            <p:extLst>
              <p:ext uri="{D42A27DB-BD31-4B8C-83A1-F6EECF244321}">
                <p14:modId xmlns:p14="http://schemas.microsoft.com/office/powerpoint/2010/main" val="2098709652"/>
              </p:ext>
            </p:extLst>
          </p:nvPr>
        </p:nvGraphicFramePr>
        <p:xfrm>
          <a:off x="685800" y="1847850"/>
          <a:ext cx="10820400" cy="295275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조작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CLOCK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분·초 시계 표시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L: 스톱워치 진입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STOPWATCH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0.01초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계수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L: 시계 / R: 정지 / C: 초기화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측정값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약 5초 후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애니메이션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R: 재개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RESET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스톱워치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값 0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C: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A5CC3E6-3778-421D-BC0E-F90C582AD1F1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082040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lnSpc>
                <a:spcPct val="200000"/>
              </a:lnSpc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dirty="0" smtClean="0"/>
              <a:t>스위치</a:t>
            </a:r>
            <a:r>
              <a:rPr lang="ko-KR" altLang="en-US" dirty="0"/>
              <a:t> </a:t>
            </a:r>
            <a:r>
              <a:rPr sz="15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reset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초기화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및 CLOCK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복귀</a:t>
            </a:r>
            <a:endParaRPr sz="15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200000"/>
              </a:lnSpc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일반적인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단일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조작은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디바운싱된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버튼을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놓을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때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상태가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sz="15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9697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>
            <a:extLst>
              <a:ext uri="{FF2B5EF4-FFF2-40B4-BE49-F238E27FC236}">
                <a16:creationId xmlns:a16="http://schemas.microsoft.com/office/drawing/2014/main" id="{507A90A8-2C27-4F1C-83A8-F9D280922E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A17132-2BF8-44A1-AFEB-025D9DC98D03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전체 시스템 Block Diagram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090DF2-A52E-4001-BAEB-E6EF644E5E6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54672B-6823-4BC8-B6CC-8C112C8DD69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5F251B-B71E-45F0-AEC7-403C7AC2225A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19DDA1-AAAB-4E55-8FA1-3F8DC6DAD1A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DDF737-7510-4FD4-ADDD-D222F917EEFC}"/>
              </a:ext>
            </a:extLst>
          </p:cNvPr>
          <p:cNvSpPr>
            <a:spLocks noGrp="1"/>
          </p:cNvSpPr>
          <p:nvPr/>
        </p:nvSpPr>
        <p:spPr>
          <a:xfrm>
            <a:off x="685800" y="1819275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 입력부터 시간 계수와 FND 출력까지의 신호 흐름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E95055-F95A-4910-B992-0B4D6AAA879F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143125" cy="18859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A6381E-95E3-4B6F-9A37-B265043A5548}"/>
              </a:ext>
            </a:extLst>
          </p:cNvPr>
          <p:cNvSpPr>
            <a:spLocks noGrp="1"/>
          </p:cNvSpPr>
          <p:nvPr/>
        </p:nvSpPr>
        <p:spPr>
          <a:xfrm>
            <a:off x="1914525" y="3476625"/>
            <a:ext cx="18383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btn_debounder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77ECD6-B70C-4E9B-BE73-D02EE72F57AE}"/>
              </a:ext>
            </a:extLst>
          </p:cNvPr>
          <p:cNvSpPr>
            <a:spLocks noGrp="1"/>
          </p:cNvSpPr>
          <p:nvPr/>
        </p:nvSpPr>
        <p:spPr>
          <a:xfrm>
            <a:off x="1914525" y="3838575"/>
            <a:ext cx="18383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버튼 입력 안정화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E55964-2B00-4E63-BB8A-5AE8FBDD8FA5}"/>
              </a:ext>
            </a:extLst>
          </p:cNvPr>
          <p:cNvSpPr>
            <a:spLocks noGrp="1"/>
          </p:cNvSpPr>
          <p:nvPr/>
        </p:nvSpPr>
        <p:spPr>
          <a:xfrm>
            <a:off x="1914525" y="4200525"/>
            <a:ext cx="1838325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0E435A-67B5-4491-82A2-D100471A5EF6}"/>
              </a:ext>
            </a:extLst>
          </p:cNvPr>
          <p:cNvSpPr>
            <a:spLocks noGrp="1"/>
          </p:cNvSpPr>
          <p:nvPr/>
        </p:nvSpPr>
        <p:spPr>
          <a:xfrm>
            <a:off x="1914525" y="439102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noisy_btn[2:0]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6E1517-3EE0-406A-946A-1DEBCB0FBB32}"/>
              </a:ext>
            </a:extLst>
          </p:cNvPr>
          <p:cNvSpPr>
            <a:spLocks noGrp="1"/>
          </p:cNvSpPr>
          <p:nvPr/>
        </p:nvSpPr>
        <p:spPr>
          <a:xfrm>
            <a:off x="1914525" y="47910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약 10ms 디바운싱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8F48E2-A6CD-44ED-80C8-66C84C606705}"/>
              </a:ext>
            </a:extLst>
          </p:cNvPr>
          <p:cNvSpPr>
            <a:spLocks noGrp="1"/>
          </p:cNvSpPr>
          <p:nvPr/>
        </p:nvSpPr>
        <p:spPr>
          <a:xfrm>
            <a:off x="5238750" y="3333750"/>
            <a:ext cx="2571750" cy="2209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6A4324-AD8B-4595-82D9-C15642C37391}"/>
              </a:ext>
            </a:extLst>
          </p:cNvPr>
          <p:cNvSpPr>
            <a:spLocks noGrp="1"/>
          </p:cNvSpPr>
          <p:nvPr/>
        </p:nvSpPr>
        <p:spPr>
          <a:xfrm>
            <a:off x="5391150" y="3476625"/>
            <a:ext cx="22669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main_fsm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2EB72D-2660-4111-91CF-28B5810FF369}"/>
              </a:ext>
            </a:extLst>
          </p:cNvPr>
          <p:cNvSpPr>
            <a:spLocks noGrp="1"/>
          </p:cNvSpPr>
          <p:nvPr/>
        </p:nvSpPr>
        <p:spPr>
          <a:xfrm>
            <a:off x="5391150" y="3838575"/>
            <a:ext cx="2266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상태 제어 · 시간 계수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B1757B-08CE-41DA-9548-A90A6A0CE1E0}"/>
              </a:ext>
            </a:extLst>
          </p:cNvPr>
          <p:cNvSpPr>
            <a:spLocks noGrp="1"/>
          </p:cNvSpPr>
          <p:nvPr/>
        </p:nvSpPr>
        <p:spPr>
          <a:xfrm>
            <a:off x="5391150" y="4200525"/>
            <a:ext cx="226695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25392E-5BAD-427E-8A96-C9D553B99856}"/>
              </a:ext>
            </a:extLst>
          </p:cNvPr>
          <p:cNvSpPr>
            <a:spLocks noGrp="1"/>
          </p:cNvSpPr>
          <p:nvPr/>
        </p:nvSpPr>
        <p:spPr>
          <a:xfrm>
            <a:off x="5391150" y="4391025"/>
            <a:ext cx="2286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CLOCK / STOPWATCH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2FB1E2-A672-4BCE-97CE-85FBA21DAADF}"/>
              </a:ext>
            </a:extLst>
          </p:cNvPr>
          <p:cNvSpPr>
            <a:spLocks noGrp="1"/>
          </p:cNvSpPr>
          <p:nvPr/>
        </p:nvSpPr>
        <p:spPr>
          <a:xfrm>
            <a:off x="5391150" y="4724400"/>
            <a:ext cx="2286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STOP / RESET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4E6FFCE-AFE7-4EFD-A5BB-2A54383F8D97}"/>
              </a:ext>
            </a:extLst>
          </p:cNvPr>
          <p:cNvSpPr>
            <a:spLocks noGrp="1"/>
          </p:cNvSpPr>
          <p:nvPr/>
        </p:nvSpPr>
        <p:spPr>
          <a:xfrm>
            <a:off x="5391150" y="51530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정지 약 5초 후 애니메이션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5B8A7DD-C1D0-4CDE-A10A-2FF12725687E}"/>
              </a:ext>
            </a:extLst>
          </p:cNvPr>
          <p:cNvSpPr>
            <a:spLocks noGrp="1"/>
          </p:cNvSpPr>
          <p:nvPr/>
        </p:nvSpPr>
        <p:spPr>
          <a:xfrm>
            <a:off x="5238750" y="2352675"/>
            <a:ext cx="257175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756F4C-B6D0-4F84-88AD-B2989FB0098D}"/>
              </a:ext>
            </a:extLst>
          </p:cNvPr>
          <p:cNvSpPr>
            <a:spLocks noGrp="1"/>
          </p:cNvSpPr>
          <p:nvPr/>
        </p:nvSpPr>
        <p:spPr>
          <a:xfrm>
            <a:off x="5391150" y="24384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tick_generator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825263-5AC9-4F75-A7A0-A89523358002}"/>
              </a:ext>
            </a:extLst>
          </p:cNvPr>
          <p:cNvSpPr>
            <a:spLocks noGrp="1"/>
          </p:cNvSpPr>
          <p:nvPr/>
        </p:nvSpPr>
        <p:spPr>
          <a:xfrm>
            <a:off x="5391150" y="278130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100MHz → 1kHz </a:t>
            </a:r>
            <a:r>
              <a:rPr sz="142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펄스</a:t>
            </a:r>
            <a:endParaRPr sz="1425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6FB9AF-04A2-4542-9585-02D2DC3694FA}"/>
              </a:ext>
            </a:extLst>
          </p:cNvPr>
          <p:cNvSpPr>
            <a:spLocks noGrp="1"/>
          </p:cNvSpPr>
          <p:nvPr/>
        </p:nvSpPr>
        <p:spPr>
          <a:xfrm>
            <a:off x="9334500" y="2352675"/>
            <a:ext cx="2171700" cy="3190875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D08545-C0D3-453B-BAE0-3F61D313ACD8}"/>
              </a:ext>
            </a:extLst>
          </p:cNvPr>
          <p:cNvSpPr>
            <a:spLocks noGrp="1"/>
          </p:cNvSpPr>
          <p:nvPr/>
        </p:nvSpPr>
        <p:spPr>
          <a:xfrm>
            <a:off x="9486900" y="2495550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fnd_controllor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6E681F2-7C5F-4390-B9F2-8CF9DDB47976}"/>
              </a:ext>
            </a:extLst>
          </p:cNvPr>
          <p:cNvSpPr>
            <a:spLocks noGrp="1"/>
          </p:cNvSpPr>
          <p:nvPr/>
        </p:nvSpPr>
        <p:spPr>
          <a:xfrm>
            <a:off x="9486900" y="2857500"/>
            <a:ext cx="1866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4자리 FND 표시 제어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5EB6B0-70E5-4E09-B240-18239F35CAC2}"/>
              </a:ext>
            </a:extLst>
          </p:cNvPr>
          <p:cNvSpPr>
            <a:spLocks noGrp="1"/>
          </p:cNvSpPr>
          <p:nvPr/>
        </p:nvSpPr>
        <p:spPr>
          <a:xfrm>
            <a:off x="9486900" y="3219450"/>
            <a:ext cx="18669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F64B8D0-9516-4374-9B83-27A1259CBB85}"/>
              </a:ext>
            </a:extLst>
          </p:cNvPr>
          <p:cNvSpPr>
            <a:spLocks noGrp="1"/>
          </p:cNvSpPr>
          <p:nvPr/>
        </p:nvSpPr>
        <p:spPr>
          <a:xfrm>
            <a:off x="9486900" y="34004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tick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2E6940-E607-4B7E-8303-0E949F68A63A}"/>
              </a:ext>
            </a:extLst>
          </p:cNvPr>
          <p:cNvSpPr>
            <a:spLocks noGrp="1"/>
          </p:cNvSpPr>
          <p:nvPr/>
        </p:nvSpPr>
        <p:spPr>
          <a:xfrm>
            <a:off x="9486900" y="3848100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in_data[23:0]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04D73C-E77D-4ACC-8CED-9A70BE4C20E9}"/>
              </a:ext>
            </a:extLst>
          </p:cNvPr>
          <p:cNvSpPr>
            <a:spLocks noGrp="1"/>
          </p:cNvSpPr>
          <p:nvPr/>
        </p:nvSpPr>
        <p:spPr>
          <a:xfrm>
            <a:off x="9486900" y="4333875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mode_sel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8E8FBC-2A14-4B2D-8CF9-994DD665ED63}"/>
              </a:ext>
            </a:extLst>
          </p:cNvPr>
          <p:cNvSpPr>
            <a:spLocks noGrp="1"/>
          </p:cNvSpPr>
          <p:nvPr/>
        </p:nvSpPr>
        <p:spPr>
          <a:xfrm>
            <a:off x="9486900" y="4810125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mode2_sel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95DED7E-515B-4004-9E0D-DF62AFC0BD39}"/>
              </a:ext>
            </a:extLst>
          </p:cNvPr>
          <p:cNvSpPr>
            <a:spLocks noGrp="1"/>
          </p:cNvSpPr>
          <p:nvPr/>
        </p:nvSpPr>
        <p:spPr>
          <a:xfrm>
            <a:off x="685800" y="3933825"/>
            <a:ext cx="1066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btn[2:0]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D92EE4A5-C0DE-411C-AE90-8A98EB2426FC}"/>
              </a:ext>
            </a:extLst>
          </p:cNvPr>
          <p:cNvSpPr>
            <a:spLocks noGrp="1"/>
          </p:cNvSpPr>
          <p:nvPr/>
        </p:nvSpPr>
        <p:spPr>
          <a:xfrm>
            <a:off x="733425" y="4295775"/>
            <a:ext cx="981075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C048C54F-90BE-4C13-A7AF-511A9EBC8411}"/>
              </a:ext>
            </a:extLst>
          </p:cNvPr>
          <p:cNvSpPr>
            <a:spLocks noGrp="1"/>
          </p:cNvSpPr>
          <p:nvPr/>
        </p:nvSpPr>
        <p:spPr>
          <a:xfrm>
            <a:off x="3952875" y="4295775"/>
            <a:ext cx="12382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90A5095-1CBB-48F0-8465-189C7C753B7C}"/>
              </a:ext>
            </a:extLst>
          </p:cNvPr>
          <p:cNvSpPr>
            <a:spLocks noGrp="1"/>
          </p:cNvSpPr>
          <p:nvPr/>
        </p:nvSpPr>
        <p:spPr>
          <a:xfrm>
            <a:off x="4048125" y="37242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clean_btn</a:t>
            </a:r>
            <a:endParaRPr sz="1425" b="0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B36B89D-732A-425B-BBDC-D81C825E47F8}"/>
              </a:ext>
            </a:extLst>
          </p:cNvPr>
          <p:cNvSpPr>
            <a:spLocks noGrp="1"/>
          </p:cNvSpPr>
          <p:nvPr/>
        </p:nvSpPr>
        <p:spPr>
          <a:xfrm>
            <a:off x="4238625" y="400050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[2:0]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FBF4C925-2976-47F8-B586-9086FC017084}"/>
              </a:ext>
            </a:extLst>
          </p:cNvPr>
          <p:cNvSpPr>
            <a:spLocks noGrp="1"/>
          </p:cNvSpPr>
          <p:nvPr/>
        </p:nvSpPr>
        <p:spPr>
          <a:xfrm>
            <a:off x="7867650" y="2714625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25D8CE98-ADF2-46A8-8447-87D669CF949C}"/>
              </a:ext>
            </a:extLst>
          </p:cNvPr>
          <p:cNvSpPr>
            <a:spLocks noGrp="1"/>
          </p:cNvSpPr>
          <p:nvPr/>
        </p:nvSpPr>
        <p:spPr>
          <a:xfrm>
            <a:off x="8677275" y="2714625"/>
            <a:ext cx="953" cy="8001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6457FDA6-0B2D-422B-B801-51F30F3E923C}"/>
              </a:ext>
            </a:extLst>
          </p:cNvPr>
          <p:cNvSpPr>
            <a:spLocks noGrp="1"/>
          </p:cNvSpPr>
          <p:nvPr/>
        </p:nvSpPr>
        <p:spPr>
          <a:xfrm>
            <a:off x="8677275" y="3514725"/>
            <a:ext cx="619125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E792176-2A6E-4A0C-BF6D-59BC5B3789AD}"/>
              </a:ext>
            </a:extLst>
          </p:cNvPr>
          <p:cNvSpPr>
            <a:spLocks noGrp="1"/>
          </p:cNvSpPr>
          <p:nvPr/>
        </p:nvSpPr>
        <p:spPr>
          <a:xfrm>
            <a:off x="8001000" y="24003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tick / 1bit</a:t>
            </a:r>
          </a:p>
        </p:txBody>
      </p:sp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8D86CAA1-80DC-4689-9D1A-AB77448514A1}"/>
              </a:ext>
            </a:extLst>
          </p:cNvPr>
          <p:cNvSpPr>
            <a:spLocks noGrp="1"/>
          </p:cNvSpPr>
          <p:nvPr/>
        </p:nvSpPr>
        <p:spPr>
          <a:xfrm>
            <a:off x="7858125" y="3962400"/>
            <a:ext cx="14287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3EDD458-7760-4A0D-99A6-A399FD49ED21}"/>
              </a:ext>
            </a:extLst>
          </p:cNvPr>
          <p:cNvSpPr>
            <a:spLocks noGrp="1"/>
          </p:cNvSpPr>
          <p:nvPr/>
        </p:nvSpPr>
        <p:spPr>
          <a:xfrm>
            <a:off x="7886700" y="3629025"/>
            <a:ext cx="14097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seg_data[23:0]</a:t>
            </a:r>
          </a:p>
        </p:txBody>
      </p:sp>
      <p:sp>
        <p:nvSpPr>
          <p:cNvPr id="47" name="직선 연결선 46">
            <a:extLst>
              <a:ext uri="{FF2B5EF4-FFF2-40B4-BE49-F238E27FC236}">
                <a16:creationId xmlns:a16="http://schemas.microsoft.com/office/drawing/2014/main" id="{448FF41D-7F8B-45F7-8BB9-B70C6F02E35D}"/>
              </a:ext>
            </a:extLst>
          </p:cNvPr>
          <p:cNvSpPr>
            <a:spLocks noGrp="1"/>
          </p:cNvSpPr>
          <p:nvPr/>
        </p:nvSpPr>
        <p:spPr>
          <a:xfrm>
            <a:off x="7858125" y="4448175"/>
            <a:ext cx="14287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5BDCDAA-53A6-4C0B-9803-A37D16FF721D}"/>
              </a:ext>
            </a:extLst>
          </p:cNvPr>
          <p:cNvSpPr>
            <a:spLocks noGrp="1"/>
          </p:cNvSpPr>
          <p:nvPr/>
        </p:nvSpPr>
        <p:spPr>
          <a:xfrm>
            <a:off x="7886700" y="4133850"/>
            <a:ext cx="14097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mode_sel / 1bit</a:t>
            </a:r>
          </a:p>
        </p:txBody>
      </p:sp>
      <p:sp>
        <p:nvSpPr>
          <p:cNvPr id="50" name="직선 연결선 49">
            <a:extLst>
              <a:ext uri="{FF2B5EF4-FFF2-40B4-BE49-F238E27FC236}">
                <a16:creationId xmlns:a16="http://schemas.microsoft.com/office/drawing/2014/main" id="{E6741F50-BB02-4AA0-A84D-47AB0DF14D5F}"/>
              </a:ext>
            </a:extLst>
          </p:cNvPr>
          <p:cNvSpPr>
            <a:spLocks noGrp="1"/>
          </p:cNvSpPr>
          <p:nvPr/>
        </p:nvSpPr>
        <p:spPr>
          <a:xfrm>
            <a:off x="7858125" y="4924425"/>
            <a:ext cx="14287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F4885D-6D73-4589-B514-11677ADFE60C}"/>
              </a:ext>
            </a:extLst>
          </p:cNvPr>
          <p:cNvSpPr>
            <a:spLocks noGrp="1"/>
          </p:cNvSpPr>
          <p:nvPr/>
        </p:nvSpPr>
        <p:spPr>
          <a:xfrm>
            <a:off x="7886700" y="4610100"/>
            <a:ext cx="14097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mode2_sel / 1bit</a:t>
            </a:r>
          </a:p>
        </p:txBody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399F5FA7-F538-4490-B9E0-AFE8BE2732F5}"/>
              </a:ext>
            </a:extLst>
          </p:cNvPr>
          <p:cNvSpPr>
            <a:spLocks noGrp="1"/>
          </p:cNvSpPr>
          <p:nvPr/>
        </p:nvSpPr>
        <p:spPr>
          <a:xfrm>
            <a:off x="10325100" y="5581650"/>
            <a:ext cx="953" cy="26670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70586B-E7DA-4B0E-B613-147C1AC12555}"/>
              </a:ext>
            </a:extLst>
          </p:cNvPr>
          <p:cNvSpPr>
            <a:spLocks noGrp="1"/>
          </p:cNvSpPr>
          <p:nvPr/>
        </p:nvSpPr>
        <p:spPr>
          <a:xfrm>
            <a:off x="9382125" y="59245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an[3:0] / </a:t>
            </a:r>
            <a:r>
              <a:rPr sz="15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seg</a:t>
            </a:r>
            <a:r>
              <a:rPr sz="15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[7:0]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C56FF71-8514-4E9C-BA81-8762BDB15C36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공통 입력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4F3704F-D25B-4C8A-814C-C116F63B800D}"/>
              </a:ext>
            </a:extLst>
          </p:cNvPr>
          <p:cNvSpPr>
            <a:spLocks noGrp="1"/>
          </p:cNvSpPr>
          <p:nvPr/>
        </p:nvSpPr>
        <p:spPr>
          <a:xfrm>
            <a:off x="2200275" y="56959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clk: 100MHz / reset: Active High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14A8654-28A2-4052-888E-5E5B3796D74A}"/>
              </a:ext>
            </a:extLst>
          </p:cNvPr>
          <p:cNvSpPr>
            <a:spLocks noGrp="1"/>
          </p:cNvSpPr>
          <p:nvPr/>
        </p:nvSpPr>
        <p:spPr>
          <a:xfrm>
            <a:off x="2200275" y="6019800"/>
            <a:ext cx="5715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모든 모듈에 공급</a:t>
            </a:r>
          </a:p>
        </p:txBody>
      </p:sp>
    </p:spTree>
    <p:extLst>
      <p:ext uri="{BB962C8B-B14F-4D97-AF65-F5344CB8AC3E}">
        <p14:creationId xmlns:p14="http://schemas.microsoft.com/office/powerpoint/2010/main" val="302381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2DB2DA4E-B25B-4A51-9341-424B42175F8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1E1467-7353-4DB8-AA24-AD1A62FFBE3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FSM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FE5F0F-C763-4DFF-9EA9-9A78C7F50A69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699A04-4F97-420E-9326-F3D463FFD24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2873E3-8269-4B22-A565-7EAB8CF0336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98749B-D230-4A9A-A756-63B7BE5BDF0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E7EAA63-B7E2-44C5-8CE7-960F349C0F0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3812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254D78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C3AE8D-8CB6-4B81-AF40-8939A214B035}"/>
              </a:ext>
            </a:extLst>
          </p:cNvPr>
          <p:cNvSpPr>
            <a:spLocks noGrp="1"/>
          </p:cNvSpPr>
          <p:nvPr/>
        </p:nvSpPr>
        <p:spPr>
          <a:xfrm>
            <a:off x="885825" y="2762250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CLOCK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313F3E6-613E-42FA-99E7-0B95C77B371B}"/>
              </a:ext>
            </a:extLst>
          </p:cNvPr>
          <p:cNvSpPr>
            <a:spLocks noGrp="1"/>
          </p:cNvSpPr>
          <p:nvPr/>
        </p:nvSpPr>
        <p:spPr>
          <a:xfrm>
            <a:off x="4905375" y="2571750"/>
            <a:ext cx="23812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570E03-9813-40FD-8E3B-561E269CDAEF}"/>
              </a:ext>
            </a:extLst>
          </p:cNvPr>
          <p:cNvSpPr>
            <a:spLocks noGrp="1"/>
          </p:cNvSpPr>
          <p:nvPr/>
        </p:nvSpPr>
        <p:spPr>
          <a:xfrm>
            <a:off x="5105400" y="2762250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STOPWATCH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13D5D72-A714-4EEF-A7F5-3892A13B12AA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23812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254D7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820595-7630-437F-8ED1-5A57D76AE00F}"/>
              </a:ext>
            </a:extLst>
          </p:cNvPr>
          <p:cNvSpPr>
            <a:spLocks noGrp="1"/>
          </p:cNvSpPr>
          <p:nvPr/>
        </p:nvSpPr>
        <p:spPr>
          <a:xfrm>
            <a:off x="9324975" y="2762250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STOP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69EA1F6-763F-4F2C-8285-60A42EF0EBFE}"/>
              </a:ext>
            </a:extLst>
          </p:cNvPr>
          <p:cNvSpPr>
            <a:spLocks noGrp="1"/>
          </p:cNvSpPr>
          <p:nvPr/>
        </p:nvSpPr>
        <p:spPr>
          <a:xfrm>
            <a:off x="4905375" y="3962400"/>
            <a:ext cx="23812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F1C4D4-9C19-4883-8DD0-A573E237FB65}"/>
              </a:ext>
            </a:extLst>
          </p:cNvPr>
          <p:cNvSpPr>
            <a:spLocks noGrp="1"/>
          </p:cNvSpPr>
          <p:nvPr/>
        </p:nvSpPr>
        <p:spPr>
          <a:xfrm>
            <a:off x="5105400" y="4152900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RESET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1996683-0C72-446B-B923-9E44131D2313}"/>
              </a:ext>
            </a:extLst>
          </p:cNvPr>
          <p:cNvSpPr>
            <a:spLocks noGrp="1"/>
          </p:cNvSpPr>
          <p:nvPr/>
        </p:nvSpPr>
        <p:spPr>
          <a:xfrm>
            <a:off x="3067050" y="2790825"/>
            <a:ext cx="1685925" cy="953"/>
          </a:xfrm>
          <a:prstGeom prst="line">
            <a:avLst/>
          </a:prstGeom>
          <a:noFill/>
          <a:ln w="19050">
            <a:solidFill>
              <a:srgbClr val="254D78"/>
            </a:solidFill>
            <a:headEnd type="none"/>
            <a:tailEnd type="triangle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4DF93B-E61D-4792-B4E2-5D1FC9C67729}"/>
              </a:ext>
            </a:extLst>
          </p:cNvPr>
          <p:cNvSpPr>
            <a:spLocks noGrp="1"/>
          </p:cNvSpPr>
          <p:nvPr/>
        </p:nvSpPr>
        <p:spPr>
          <a:xfrm>
            <a:off x="3829050" y="24384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5B7986B0-5CE0-4FE1-88C9-75458447A817}"/>
              </a:ext>
            </a:extLst>
          </p:cNvPr>
          <p:cNvSpPr>
            <a:spLocks noGrp="1"/>
          </p:cNvSpPr>
          <p:nvPr/>
        </p:nvSpPr>
        <p:spPr>
          <a:xfrm flipV="1">
            <a:off x="6096000" y="2095500"/>
            <a:ext cx="953" cy="47625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AF68EE1-66C1-4711-9D7C-7E361E1A53D0}"/>
              </a:ext>
            </a:extLst>
          </p:cNvPr>
          <p:cNvSpPr>
            <a:spLocks noGrp="1"/>
          </p:cNvSpPr>
          <p:nvPr/>
        </p:nvSpPr>
        <p:spPr>
          <a:xfrm>
            <a:off x="1876425" y="2095500"/>
            <a:ext cx="421957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473DD57B-371D-48B4-AA6E-BE74F83A9273}"/>
              </a:ext>
            </a:extLst>
          </p:cNvPr>
          <p:cNvSpPr>
            <a:spLocks noGrp="1"/>
          </p:cNvSpPr>
          <p:nvPr/>
        </p:nvSpPr>
        <p:spPr>
          <a:xfrm>
            <a:off x="1876425" y="2095500"/>
            <a:ext cx="953" cy="36195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9DF756B-F279-4164-9C5D-BB2A475DCFD2}"/>
              </a:ext>
            </a:extLst>
          </p:cNvPr>
          <p:cNvSpPr>
            <a:spLocks noGrp="1"/>
          </p:cNvSpPr>
          <p:nvPr/>
        </p:nvSpPr>
        <p:spPr>
          <a:xfrm>
            <a:off x="3829050" y="17621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E74897E-C035-4087-91D0-C83B8FB2CEFD}"/>
              </a:ext>
            </a:extLst>
          </p:cNvPr>
          <p:cNvSpPr>
            <a:spLocks noGrp="1"/>
          </p:cNvSpPr>
          <p:nvPr/>
        </p:nvSpPr>
        <p:spPr>
          <a:xfrm>
            <a:off x="7286625" y="2790825"/>
            <a:ext cx="1685925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D00E7F-FEEB-4C71-B1BA-DD7950119964}"/>
              </a:ext>
            </a:extLst>
          </p:cNvPr>
          <p:cNvSpPr>
            <a:spLocks noGrp="1"/>
          </p:cNvSpPr>
          <p:nvPr/>
        </p:nvSpPr>
        <p:spPr>
          <a:xfrm>
            <a:off x="8048625" y="24384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E91279CB-6AE0-4558-9F8D-E81271FEE585}"/>
              </a:ext>
            </a:extLst>
          </p:cNvPr>
          <p:cNvSpPr>
            <a:spLocks noGrp="1"/>
          </p:cNvSpPr>
          <p:nvPr/>
        </p:nvSpPr>
        <p:spPr>
          <a:xfrm>
            <a:off x="10315575" y="3257550"/>
            <a:ext cx="953" cy="36195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05FC93EF-C345-473E-9CBC-CBEB8A72F370}"/>
              </a:ext>
            </a:extLst>
          </p:cNvPr>
          <p:cNvSpPr>
            <a:spLocks noGrp="1"/>
          </p:cNvSpPr>
          <p:nvPr/>
        </p:nvSpPr>
        <p:spPr>
          <a:xfrm>
            <a:off x="6096000" y="3619500"/>
            <a:ext cx="421957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341A3947-1999-4B9C-9A98-F9A41B1831B4}"/>
              </a:ext>
            </a:extLst>
          </p:cNvPr>
          <p:cNvSpPr>
            <a:spLocks noGrp="1"/>
          </p:cNvSpPr>
          <p:nvPr/>
        </p:nvSpPr>
        <p:spPr>
          <a:xfrm flipV="1">
            <a:off x="6096001" y="3333750"/>
            <a:ext cx="0" cy="28575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BA1BC3-E057-45F0-A294-CC819C6E6CD1}"/>
              </a:ext>
            </a:extLst>
          </p:cNvPr>
          <p:cNvSpPr>
            <a:spLocks noGrp="1"/>
          </p:cNvSpPr>
          <p:nvPr/>
        </p:nvSpPr>
        <p:spPr>
          <a:xfrm>
            <a:off x="8048625" y="32861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>
            <a:off x="5267325" y="3319461"/>
            <a:ext cx="953" cy="59055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8989DE-03A4-444A-AA33-9432976D93BC}"/>
              </a:ext>
            </a:extLst>
          </p:cNvPr>
          <p:cNvSpPr>
            <a:spLocks noGrp="1"/>
          </p:cNvSpPr>
          <p:nvPr/>
        </p:nvSpPr>
        <p:spPr>
          <a:xfrm>
            <a:off x="4867275" y="35147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832B4A3E-F23D-44F4-807D-AEA92E6E5ACB}"/>
              </a:ext>
            </a:extLst>
          </p:cNvPr>
          <p:cNvSpPr>
            <a:spLocks noGrp="1"/>
          </p:cNvSpPr>
          <p:nvPr/>
        </p:nvSpPr>
        <p:spPr>
          <a:xfrm flipV="1">
            <a:off x="6924675" y="3331368"/>
            <a:ext cx="953" cy="57150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673F8DF-1001-48E9-946D-34E1A83873CB}"/>
              </a:ext>
            </a:extLst>
          </p:cNvPr>
          <p:cNvSpPr>
            <a:spLocks noGrp="1"/>
          </p:cNvSpPr>
          <p:nvPr/>
        </p:nvSpPr>
        <p:spPr>
          <a:xfrm>
            <a:off x="6972300" y="36671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1499B7-DE03-4C19-BE74-FAA092331D19}"/>
              </a:ext>
            </a:extLst>
          </p:cNvPr>
          <p:cNvSpPr>
            <a:spLocks noGrp="1"/>
          </p:cNvSpPr>
          <p:nvPr/>
        </p:nvSpPr>
        <p:spPr>
          <a:xfrm>
            <a:off x="1301750" y="3759200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65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SW / </a:t>
            </a:r>
            <a:r>
              <a:rPr sz="165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reset</a:t>
            </a:r>
            <a:endParaRPr sz="165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09E8EF4-94AF-4514-91D8-6A78D4847475}"/>
              </a:ext>
            </a:extLst>
          </p:cNvPr>
          <p:cNvSpPr>
            <a:spLocks noGrp="1"/>
          </p:cNvSpPr>
          <p:nvPr/>
        </p:nvSpPr>
        <p:spPr>
          <a:xfrm flipV="1">
            <a:off x="1841500" y="3333750"/>
            <a:ext cx="953" cy="371475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9C864A-D2D1-4991-867D-4FDD022972B4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7118E6-DA57-44B7-8416-7D833E00C874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STOP 하위 출력 동작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BE8BD7C-423C-498B-A220-D8578AE8E6B8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2476500" cy="571500"/>
          </a:xfrm>
          <a:prstGeom prst="rect">
            <a:avLst/>
          </a:prstGeom>
          <a:solidFill>
            <a:srgbClr val="F6F8FB"/>
          </a:solidFill>
          <a:ln w="14288">
            <a:solidFill>
              <a:srgbClr val="254D78"/>
            </a:solidFill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FF36DD6-4352-4D57-A0A5-074B95DD43B0}"/>
              </a:ext>
            </a:extLst>
          </p:cNvPr>
          <p:cNvSpPr>
            <a:spLocks noGrp="1"/>
          </p:cNvSpPr>
          <p:nvPr/>
        </p:nvSpPr>
        <p:spPr>
          <a:xfrm>
            <a:off x="828675" y="56007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정지 시간 계수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4AA2DEB-E9C4-4186-A53E-62D1DEA59E66}"/>
              </a:ext>
            </a:extLst>
          </p:cNvPr>
          <p:cNvSpPr>
            <a:spLocks noGrp="1"/>
          </p:cNvSpPr>
          <p:nvPr/>
        </p:nvSpPr>
        <p:spPr>
          <a:xfrm>
            <a:off x="828675" y="5857875"/>
            <a:ext cx="2190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mode2_sel = 0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4E57C0A-D5F8-4363-B2E0-A9D8428BD3CF}"/>
              </a:ext>
            </a:extLst>
          </p:cNvPr>
          <p:cNvSpPr>
            <a:spLocks noGrp="1"/>
          </p:cNvSpPr>
          <p:nvPr/>
        </p:nvSpPr>
        <p:spPr>
          <a:xfrm>
            <a:off x="4857750" y="5524500"/>
            <a:ext cx="2476500" cy="571500"/>
          </a:xfrm>
          <a:prstGeom prst="rect">
            <a:avLst/>
          </a:prstGeom>
          <a:solidFill>
            <a:srgbClr val="F6F8FB"/>
          </a:solidFill>
          <a:ln w="14288">
            <a:solidFill>
              <a:srgbClr val="254D78"/>
            </a:solidFill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3D7225B-FA7A-4A8E-AEB0-118F6A06CCDC}"/>
              </a:ext>
            </a:extLst>
          </p:cNvPr>
          <p:cNvSpPr>
            <a:spLocks noGrp="1"/>
          </p:cNvSpPr>
          <p:nvPr/>
        </p:nvSpPr>
        <p:spPr>
          <a:xfrm>
            <a:off x="5000625" y="56007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애니메이션 출력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415C677-FDDE-4D8E-B857-9474816907CC}"/>
              </a:ext>
            </a:extLst>
          </p:cNvPr>
          <p:cNvSpPr>
            <a:spLocks noGrp="1"/>
          </p:cNvSpPr>
          <p:nvPr/>
        </p:nvSpPr>
        <p:spPr>
          <a:xfrm>
            <a:off x="5000625" y="5857875"/>
            <a:ext cx="2190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mode2_sel = 1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A5C309D-4A98-4DBA-8187-7D1DEA9194CB}"/>
              </a:ext>
            </a:extLst>
          </p:cNvPr>
          <p:cNvSpPr>
            <a:spLocks noGrp="1"/>
          </p:cNvSpPr>
          <p:nvPr/>
        </p:nvSpPr>
        <p:spPr>
          <a:xfrm>
            <a:off x="9029700" y="5524500"/>
            <a:ext cx="2476500" cy="571500"/>
          </a:xfrm>
          <a:prstGeom prst="rect">
            <a:avLst/>
          </a:prstGeom>
          <a:solidFill>
            <a:srgbClr val="F6F8FB"/>
          </a:solidFill>
          <a:ln w="14288">
            <a:solidFill>
              <a:srgbClr val="254D78"/>
            </a:solidFill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A5A5C87-DEA4-4260-B642-D8C8AADCE287}"/>
              </a:ext>
            </a:extLst>
          </p:cNvPr>
          <p:cNvSpPr>
            <a:spLocks noGrp="1"/>
          </p:cNvSpPr>
          <p:nvPr/>
        </p:nvSpPr>
        <p:spPr>
          <a:xfrm>
            <a:off x="9172575" y="56007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숫자 표시 복귀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F3F6FCF-F3F1-47FF-8130-87299F4DDD4E}"/>
              </a:ext>
            </a:extLst>
          </p:cNvPr>
          <p:cNvSpPr>
            <a:spLocks noGrp="1"/>
          </p:cNvSpPr>
          <p:nvPr/>
        </p:nvSpPr>
        <p:spPr>
          <a:xfrm>
            <a:off x="9172575" y="5857875"/>
            <a:ext cx="2190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mode2_sel = 0</a:t>
            </a:r>
          </a:p>
        </p:txBody>
      </p:sp>
      <p:sp>
        <p:nvSpPr>
          <p:cNvPr id="52" name="직선 연결선 51">
            <a:extLst>
              <a:ext uri="{FF2B5EF4-FFF2-40B4-BE49-F238E27FC236}">
                <a16:creationId xmlns:a16="http://schemas.microsoft.com/office/drawing/2014/main" id="{4D05DD47-FDEE-43EF-A8C3-14E76EDA64DF}"/>
              </a:ext>
            </a:extLst>
          </p:cNvPr>
          <p:cNvSpPr>
            <a:spLocks noGrp="1"/>
          </p:cNvSpPr>
          <p:nvPr/>
        </p:nvSpPr>
        <p:spPr>
          <a:xfrm>
            <a:off x="3223260" y="5819775"/>
            <a:ext cx="15430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EC5C4C3-03E2-4A1F-A9A9-C2DFBD17F0E4}"/>
              </a:ext>
            </a:extLst>
          </p:cNvPr>
          <p:cNvSpPr>
            <a:spLocks noGrp="1"/>
          </p:cNvSpPr>
          <p:nvPr/>
        </p:nvSpPr>
        <p:spPr>
          <a:xfrm>
            <a:off x="3188970" y="55816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≥ 500 / 약 5초</a:t>
            </a:r>
          </a:p>
        </p:txBody>
      </p:sp>
      <p:sp>
        <p:nvSpPr>
          <p:cNvPr id="55" name="직선 연결선 54">
            <a:extLst>
              <a:ext uri="{FF2B5EF4-FFF2-40B4-BE49-F238E27FC236}">
                <a16:creationId xmlns:a16="http://schemas.microsoft.com/office/drawing/2014/main" id="{9BB0B1CD-3EC2-478C-8A61-D4C2075B0D29}"/>
              </a:ext>
            </a:extLst>
          </p:cNvPr>
          <p:cNvSpPr>
            <a:spLocks noGrp="1"/>
          </p:cNvSpPr>
          <p:nvPr/>
        </p:nvSpPr>
        <p:spPr>
          <a:xfrm>
            <a:off x="7395210" y="5819775"/>
            <a:ext cx="15430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457D7AE-225A-4AC7-975A-9BF60371B57E}"/>
              </a:ext>
            </a:extLst>
          </p:cNvPr>
          <p:cNvSpPr>
            <a:spLocks noGrp="1"/>
          </p:cNvSpPr>
          <p:nvPr/>
        </p:nvSpPr>
        <p:spPr>
          <a:xfrm>
            <a:off x="7370445" y="5581650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 / STOPWATCH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A08472D-DD40-47CA-8774-CE923516D350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11206976" cy="4572000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059" y="2194002"/>
            <a:ext cx="9941881" cy="335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5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AD240C-812A-45B3-8CBB-5CC8C89015D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0DC519-8F82-4C6F-A101-4012213DA2B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 계수 및 표시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57E614-F8D8-4446-9823-62AC5800897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72EF5F-FD7C-408E-9B1F-2666E74760C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52BC8A-0B66-4B0F-9B29-75D730532187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D6A92E-8615-4D27-B780-C7E85616A86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76ADCE-51E8-4E38-951B-04541A297A5B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시계와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스톱워치에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독립된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카운터를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사용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5A4EA8-5586-4BC9-B68E-7719D02CDD26}"/>
              </a:ext>
            </a:extLst>
          </p:cNvPr>
          <p:cNvSpPr>
            <a:spLocks noGrp="1"/>
          </p:cNvSpPr>
          <p:nvPr/>
        </p:nvSpPr>
        <p:spPr>
          <a:xfrm>
            <a:off x="685800" y="2581275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시간 기준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53C006-EE62-40CF-80BC-3FE7029EAEAA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2667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100MHz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AD5881-1A81-4182-8D5A-71C79CF07F88}"/>
              </a:ext>
            </a:extLst>
          </p:cNvPr>
          <p:cNvSpPr>
            <a:spLocks noGrp="1"/>
          </p:cNvSpPr>
          <p:nvPr/>
        </p:nvSpPr>
        <p:spPr>
          <a:xfrm>
            <a:off x="5873672" y="1698702"/>
            <a:ext cx="46958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10ns × 1,000,000 = 10ms</a:t>
            </a:r>
          </a:p>
        </p:txBody>
      </p:sp>
      <p:graphicFrame>
        <p:nvGraphicFramePr>
          <p:cNvPr id="24" name="표 23"/>
          <p:cNvGraphicFramePr/>
          <p:nvPr>
            <p:extLst>
              <p:ext uri="{D42A27DB-BD31-4B8C-83A1-F6EECF244321}">
                <p14:modId xmlns:p14="http://schemas.microsoft.com/office/powerpoint/2010/main" val="1889521522"/>
              </p:ext>
            </p:extLst>
          </p:nvPr>
        </p:nvGraphicFramePr>
        <p:xfrm>
          <a:off x="685800" y="4048125"/>
          <a:ext cx="10820400" cy="188595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카운터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계수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시계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모드와 관계없이 증가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00:00~99:59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스톱워치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STOPWATCH에서만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00.00~99.99초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대기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STOP에서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500회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계수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후 약 5초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38" y="2198744"/>
            <a:ext cx="2400635" cy="295316"/>
          </a:xfrm>
          <a:prstGeom prst="rect">
            <a:avLst/>
          </a:prstGeom>
        </p:spPr>
      </p:pic>
      <p:grpSp>
        <p:nvGrpSpPr>
          <p:cNvPr id="16" name="그룹 15"/>
          <p:cNvGrpSpPr/>
          <p:nvPr/>
        </p:nvGrpSpPr>
        <p:grpSpPr>
          <a:xfrm>
            <a:off x="3352800" y="2871411"/>
            <a:ext cx="5877745" cy="849844"/>
            <a:chOff x="4362298" y="3046491"/>
            <a:chExt cx="5877745" cy="849844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298" y="3046491"/>
              <a:ext cx="5877745" cy="276264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52396" y="3310803"/>
              <a:ext cx="5172797" cy="247685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00058" y="3591492"/>
              <a:ext cx="3705742" cy="304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73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E6DA17-C634-44A9-A2B2-630F58538DF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08B50A-B6EC-4ABA-B903-247956AD908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처리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lang="ko-KR" altLang="en-US" dirty="0" smtClean="0"/>
              <a:t>상태 전환</a:t>
            </a:r>
            <a:r>
              <a:rPr sz="3150" b="1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코드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92F14D-2FCC-4629-B726-7BF57506516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5DFCE2-210F-4FED-91AE-DCF54435021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10273A-BC20-4C69-A7D3-05371A5766A1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1719EA-A5EA-4881-BDC4-D561887DB08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F402DB-6DB6-4056-BA28-098944A89D74}"/>
              </a:ext>
            </a:extLst>
          </p:cNvPr>
          <p:cNvSpPr>
            <a:spLocks noGrp="1"/>
          </p:cNvSpPr>
          <p:nvPr/>
        </p:nvSpPr>
        <p:spPr>
          <a:xfrm>
            <a:off x="685800" y="1727835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① 약 10ms 디바운싱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3465FE-5F44-462C-990D-DD87808F9820}"/>
              </a:ext>
            </a:extLst>
          </p:cNvPr>
          <p:cNvSpPr>
            <a:spLocks noGrp="1"/>
          </p:cNvSpPr>
          <p:nvPr/>
        </p:nvSpPr>
        <p:spPr>
          <a:xfrm>
            <a:off x="3162300" y="1732316"/>
            <a:ext cx="6286500" cy="4093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변경된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입력이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일정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유지되면</a:t>
            </a:r>
            <a:r>
              <a:rPr lang="en-US" sz="18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clean_btn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에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반영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08472D-DD40-47CA-8774-CE923516D350}"/>
              </a:ext>
            </a:extLst>
          </p:cNvPr>
          <p:cNvSpPr>
            <a:spLocks noGrp="1"/>
          </p:cNvSpPr>
          <p:nvPr/>
        </p:nvSpPr>
        <p:spPr>
          <a:xfrm>
            <a:off x="1005840" y="2106930"/>
            <a:ext cx="6429375" cy="1809750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6DB39A-2F0E-4BC0-AA73-CCC7E511C88E}"/>
              </a:ext>
            </a:extLst>
          </p:cNvPr>
          <p:cNvSpPr>
            <a:spLocks noGrp="1"/>
          </p:cNvSpPr>
          <p:nvPr/>
        </p:nvSpPr>
        <p:spPr>
          <a:xfrm>
            <a:off x="7543800" y="3625215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②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전환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이벤트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8ABBE9-CA0E-4246-B040-3EE475D6287F}"/>
              </a:ext>
            </a:extLst>
          </p:cNvPr>
          <p:cNvSpPr>
            <a:spLocks noGrp="1"/>
          </p:cNvSpPr>
          <p:nvPr/>
        </p:nvSpPr>
        <p:spPr>
          <a:xfrm>
            <a:off x="1935480" y="4050030"/>
            <a:ext cx="9805059" cy="2145030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184" y="2221072"/>
            <a:ext cx="6027390" cy="1505266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834" y="4226727"/>
            <a:ext cx="8888065" cy="185763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2B4D31-4DAC-4843-8F7C-028F115D8412}"/>
              </a:ext>
            </a:extLst>
          </p:cNvPr>
          <p:cNvSpPr>
            <a:spLocks noGrp="1"/>
          </p:cNvSpPr>
          <p:nvPr/>
        </p:nvSpPr>
        <p:spPr>
          <a:xfrm>
            <a:off x="9448800" y="4615815"/>
            <a:ext cx="2291739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이전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버튼값이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NONE이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아니고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버튼값과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다르면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이전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버튼에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따라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2712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AEB7844C-3F73-46D8-8E72-6A6995D91002}"/>
              </a:ext>
            </a:extLst>
          </p:cNvPr>
          <p:cNvSpPr>
            <a:spLocks noGrp="1"/>
          </p:cNvSpPr>
          <p:nvPr/>
        </p:nvSpPr>
        <p:spPr>
          <a:xfrm>
            <a:off x="544767" y="3244842"/>
            <a:ext cx="5503972" cy="2047440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EB7844C-3F73-46D8-8E72-6A6995D91002}"/>
              </a:ext>
            </a:extLst>
          </p:cNvPr>
          <p:cNvSpPr>
            <a:spLocks noGrp="1"/>
          </p:cNvSpPr>
          <p:nvPr/>
        </p:nvSpPr>
        <p:spPr>
          <a:xfrm>
            <a:off x="6195862" y="3235253"/>
            <a:ext cx="5044565" cy="2917897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5F0BE3-A949-4CB4-B045-ABA2310929D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233AFC-1C65-4623-AB42-E36AFA405E50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FND 표시 및 정지 애니메이션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078C77-255B-4A37-ACB2-1466AF331354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12C10F-AB9D-4580-BC7F-2C84F6C9EDA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59F054-6126-46ED-8C19-18AFB8E077F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040711-7FDF-4560-A3A0-C35028D4F6D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93F654-7D34-48A1-89AE-64B47C8A92EB}"/>
              </a:ext>
            </a:extLst>
          </p:cNvPr>
          <p:cNvSpPr>
            <a:spLocks noGrp="1"/>
          </p:cNvSpPr>
          <p:nvPr/>
        </p:nvSpPr>
        <p:spPr>
          <a:xfrm>
            <a:off x="685800" y="1687788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표시 출력 흐름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917E9C-85E9-4DBC-8B83-91D14953E705}"/>
              </a:ext>
            </a:extLst>
          </p:cNvPr>
          <p:cNvSpPr>
            <a:spLocks noGrp="1"/>
          </p:cNvSpPr>
          <p:nvPr/>
        </p:nvSpPr>
        <p:spPr>
          <a:xfrm>
            <a:off x="685800" y="2111304"/>
            <a:ext cx="2286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B172C1-A4B2-424D-A49A-985752A2C691}"/>
              </a:ext>
            </a:extLst>
          </p:cNvPr>
          <p:cNvSpPr>
            <a:spLocks noGrp="1"/>
          </p:cNvSpPr>
          <p:nvPr/>
        </p:nvSpPr>
        <p:spPr>
          <a:xfrm>
            <a:off x="819150" y="2282754"/>
            <a:ext cx="2019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숫자 분리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A872CF-665B-4CD4-B27B-301614B46241}"/>
              </a:ext>
            </a:extLst>
          </p:cNvPr>
          <p:cNvSpPr>
            <a:spLocks noGrp="1"/>
          </p:cNvSpPr>
          <p:nvPr/>
        </p:nvSpPr>
        <p:spPr>
          <a:xfrm>
            <a:off x="819150" y="2644704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분·초 / 초·0.01초</a:t>
            </a: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0D111A96-DB12-47DC-ABD8-5CF23C74E7EF}"/>
              </a:ext>
            </a:extLst>
          </p:cNvPr>
          <p:cNvSpPr>
            <a:spLocks noGrp="1"/>
          </p:cNvSpPr>
          <p:nvPr/>
        </p:nvSpPr>
        <p:spPr>
          <a:xfrm>
            <a:off x="3143250" y="2511354"/>
            <a:ext cx="6191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BDB447-18F7-4A46-B5D5-FBDC6948CC0B}"/>
              </a:ext>
            </a:extLst>
          </p:cNvPr>
          <p:cNvSpPr>
            <a:spLocks noGrp="1"/>
          </p:cNvSpPr>
          <p:nvPr/>
        </p:nvSpPr>
        <p:spPr>
          <a:xfrm>
            <a:off x="3943350" y="2111304"/>
            <a:ext cx="2286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88491B-ECFE-48F2-9173-3D239A3E154C}"/>
              </a:ext>
            </a:extLst>
          </p:cNvPr>
          <p:cNvSpPr>
            <a:spLocks noGrp="1"/>
          </p:cNvSpPr>
          <p:nvPr/>
        </p:nvSpPr>
        <p:spPr>
          <a:xfrm>
            <a:off x="4076700" y="2282754"/>
            <a:ext cx="2019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자리 선택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2C2C9A-E514-4268-BDF3-9DD5DBF8251D}"/>
              </a:ext>
            </a:extLst>
          </p:cNvPr>
          <p:cNvSpPr>
            <a:spLocks noGrp="1"/>
          </p:cNvSpPr>
          <p:nvPr/>
        </p:nvSpPr>
        <p:spPr>
          <a:xfrm>
            <a:off x="4076700" y="2644704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1kHz 순차 스캔</a:t>
            </a:r>
          </a:p>
        </p:txBody>
      </p:sp>
      <p:sp>
        <p:nvSpPr>
          <p:cNvPr id="16" name="오른쪽 화살표 15">
            <a:extLst>
              <a:ext uri="{FF2B5EF4-FFF2-40B4-BE49-F238E27FC236}">
                <a16:creationId xmlns:a16="http://schemas.microsoft.com/office/drawing/2014/main" id="{D8C9259E-F041-48FA-B10E-6C991A52FF61}"/>
              </a:ext>
            </a:extLst>
          </p:cNvPr>
          <p:cNvSpPr>
            <a:spLocks noGrp="1"/>
          </p:cNvSpPr>
          <p:nvPr/>
        </p:nvSpPr>
        <p:spPr>
          <a:xfrm>
            <a:off x="6400800" y="2511354"/>
            <a:ext cx="6191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84B54B-2881-4246-9CA3-64EE591A3B2A}"/>
              </a:ext>
            </a:extLst>
          </p:cNvPr>
          <p:cNvSpPr>
            <a:spLocks noGrp="1"/>
          </p:cNvSpPr>
          <p:nvPr/>
        </p:nvSpPr>
        <p:spPr>
          <a:xfrm>
            <a:off x="7200900" y="2111304"/>
            <a:ext cx="2286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FA3BE4-B481-435C-B0FB-CA0133CCCB65}"/>
              </a:ext>
            </a:extLst>
          </p:cNvPr>
          <p:cNvSpPr>
            <a:spLocks noGrp="1"/>
          </p:cNvSpPr>
          <p:nvPr/>
        </p:nvSpPr>
        <p:spPr>
          <a:xfrm>
            <a:off x="7334250" y="2282754"/>
            <a:ext cx="2019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FND 출력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E8A0C7-48D4-4072-9805-A69717246C79}"/>
              </a:ext>
            </a:extLst>
          </p:cNvPr>
          <p:cNvSpPr>
            <a:spLocks noGrp="1"/>
          </p:cNvSpPr>
          <p:nvPr/>
        </p:nvSpPr>
        <p:spPr>
          <a:xfrm>
            <a:off x="7334250" y="2644704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an / seg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D9EC1A-B5B1-4BD4-B6B7-80136E58A9CA}"/>
              </a:ext>
            </a:extLst>
          </p:cNvPr>
          <p:cNvSpPr>
            <a:spLocks noGrp="1"/>
          </p:cNvSpPr>
          <p:nvPr/>
        </p:nvSpPr>
        <p:spPr>
          <a:xfrm>
            <a:off x="1657782" y="5365528"/>
            <a:ext cx="4404732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4자리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스캔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주기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약 4ms</a:t>
            </a:r>
          </a:p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약 1초마다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소수점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ON/OFF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숫자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중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소수점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점등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47" y="3331939"/>
            <a:ext cx="5258534" cy="89547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159" y="3417277"/>
            <a:ext cx="4286848" cy="1486107"/>
          </a:xfrm>
          <a:prstGeom prst="rect">
            <a:avLst/>
          </a:prstGeom>
        </p:spPr>
      </p:pic>
      <p:grpSp>
        <p:nvGrpSpPr>
          <p:cNvPr id="30" name="그룹 29"/>
          <p:cNvGrpSpPr/>
          <p:nvPr/>
        </p:nvGrpSpPr>
        <p:grpSpPr>
          <a:xfrm>
            <a:off x="1657782" y="4016803"/>
            <a:ext cx="3986416" cy="1173170"/>
            <a:chOff x="985634" y="5065040"/>
            <a:chExt cx="3986416" cy="1173170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5634" y="5780946"/>
              <a:ext cx="3677163" cy="457264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8623" y="5065040"/>
              <a:ext cx="3953427" cy="752580"/>
            </a:xfrm>
            <a:prstGeom prst="rect">
              <a:avLst/>
            </a:prstGeom>
          </p:spPr>
        </p:pic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159" y="4933751"/>
            <a:ext cx="4401164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8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122083-942B-4CBD-B84B-3A24AA18754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A3E5EA-469C-4193-9E8D-87C81BAB351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Testbench 작성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3E5158-8F4F-431E-9048-73C9E7A12FE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8C6153-CF31-4153-9F85-64297765E9B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9FB378-A3D9-4ED3-B2F0-12E16B9873A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E49500-291B-4517-94FE-D75C3C539CF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B7844C-3F73-46D8-8E72-6A6995D91002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8820150" cy="4333875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CC16F6-1639-412B-BA7B-EA57D05FAB15}"/>
              </a:ext>
            </a:extLst>
          </p:cNvPr>
          <p:cNvSpPr>
            <a:spLocks noGrp="1"/>
          </p:cNvSpPr>
          <p:nvPr/>
        </p:nvSpPr>
        <p:spPr>
          <a:xfrm>
            <a:off x="9867900" y="2690812"/>
            <a:ext cx="2009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시나리오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E5A8CF-9987-4E1B-B5B1-F6F068F8789B}"/>
              </a:ext>
            </a:extLst>
          </p:cNvPr>
          <p:cNvSpPr>
            <a:spLocks noGrp="1"/>
          </p:cNvSpPr>
          <p:nvPr/>
        </p:nvSpPr>
        <p:spPr>
          <a:xfrm>
            <a:off x="9867900" y="3148012"/>
            <a:ext cx="2009775" cy="2143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초기화</a:t>
            </a:r>
            <a:endParaRPr lang="en-US" sz="1875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시계 진입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진입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endParaRPr lang="en-US" altLang="ko-KR" sz="1875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초기화</a:t>
            </a:r>
            <a:r>
              <a:rPr sz="18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및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재시작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재개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복귀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D599E9-586A-4DB7-B00F-0FA5E136E9A1}"/>
              </a:ext>
            </a:extLst>
          </p:cNvPr>
          <p:cNvSpPr>
            <a:spLocks noGrp="1"/>
          </p:cNvSpPr>
          <p:nvPr/>
        </p:nvSpPr>
        <p:spPr>
          <a:xfrm>
            <a:off x="865714" y="5767388"/>
            <a:ext cx="483023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100배 </a:t>
            </a:r>
            <a:r>
              <a:rPr sz="16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16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가속</a:t>
            </a:r>
            <a:r>
              <a:rPr sz="16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lang="ko-KR" altLang="en-US" sz="165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클럭</a:t>
            </a:r>
            <a:r>
              <a:rPr sz="165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간격</a:t>
            </a:r>
            <a:r>
              <a:rPr sz="16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10ms → </a:t>
            </a:r>
            <a:r>
              <a:rPr sz="165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100µs</a:t>
            </a:r>
            <a:endParaRPr sz="165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14" y="1909230"/>
            <a:ext cx="760201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7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F8C5AF3B-9C5F-44F5-8F2D-0731423A3B3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A4DE1D-48B1-48CB-B44D-FF218DD85ACF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Testbench 전체 검증 시나리오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EBB88D-B653-4290-B705-80D667C3B1E7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F16EF4-3E8D-49E3-9FB0-FD8614286A3D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84539D-24FA-4C3C-937E-968BE55D13C4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536CE5-1430-4EF1-904E-F16A4E7288A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88A904-6708-4260-BC2F-9507C5367E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" r="16"/>
          <a:stretch>
            <a:fillRect/>
          </a:stretch>
        </p:blipFill>
        <p:spPr>
          <a:xfrm>
            <a:off x="685800" y="2352675"/>
            <a:ext cx="10820400" cy="35623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9A86A47-9AC3-41BB-8A98-8D27718BD1AA}"/>
              </a:ext>
            </a:extLst>
          </p:cNvPr>
          <p:cNvSpPr>
            <a:spLocks noGrp="1"/>
          </p:cNvSpPr>
          <p:nvPr/>
        </p:nvSpPr>
        <p:spPr>
          <a:xfrm>
            <a:off x="3029288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① L</a:t>
            </a:r>
            <a:endParaRPr sz="17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61A601-110A-4DD2-8D92-FB3A9604163D}"/>
              </a:ext>
            </a:extLst>
          </p:cNvPr>
          <p:cNvSpPr>
            <a:spLocks noGrp="1"/>
          </p:cNvSpPr>
          <p:nvPr/>
        </p:nvSpPr>
        <p:spPr>
          <a:xfrm>
            <a:off x="4013080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② C</a:t>
            </a:r>
            <a:endParaRPr sz="17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6A59A7-3556-446A-B23B-6DAD7ADC5FCE}"/>
              </a:ext>
            </a:extLst>
          </p:cNvPr>
          <p:cNvSpPr>
            <a:spLocks noGrp="1"/>
          </p:cNvSpPr>
          <p:nvPr/>
        </p:nvSpPr>
        <p:spPr>
          <a:xfrm>
            <a:off x="4996872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③ C</a:t>
            </a:r>
            <a:endParaRPr sz="17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285499-7059-4CE8-AAC6-354888BCAF58}"/>
              </a:ext>
            </a:extLst>
          </p:cNvPr>
          <p:cNvSpPr>
            <a:spLocks noGrp="1"/>
          </p:cNvSpPr>
          <p:nvPr/>
        </p:nvSpPr>
        <p:spPr>
          <a:xfrm>
            <a:off x="5980664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④ </a:t>
            </a: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4C7E02-E05A-4F44-955F-86772063E324}"/>
              </a:ext>
            </a:extLst>
          </p:cNvPr>
          <p:cNvSpPr>
            <a:spLocks noGrp="1"/>
          </p:cNvSpPr>
          <p:nvPr/>
        </p:nvSpPr>
        <p:spPr>
          <a:xfrm>
            <a:off x="9624691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⑤ R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44D8A6-78B8-4DEC-96C9-076C868BF67C}"/>
              </a:ext>
            </a:extLst>
          </p:cNvPr>
          <p:cNvSpPr>
            <a:spLocks noGrp="1"/>
          </p:cNvSpPr>
          <p:nvPr/>
        </p:nvSpPr>
        <p:spPr>
          <a:xfrm>
            <a:off x="10608483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⑥ L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9EEB43-AC05-4D9F-A963-66339B3EEA2E}"/>
              </a:ext>
            </a:extLst>
          </p:cNvPr>
          <p:cNvSpPr>
            <a:spLocks noGrp="1"/>
          </p:cNvSpPr>
          <p:nvPr/>
        </p:nvSpPr>
        <p:spPr>
          <a:xfrm>
            <a:off x="3188970" y="5981700"/>
            <a:ext cx="1085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425" b="1" dirty="0" err="1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0C4C4C-1373-417F-9DDF-4E94A3B8C217}"/>
              </a:ext>
            </a:extLst>
          </p:cNvPr>
          <p:cNvSpPr>
            <a:spLocks noGrp="1"/>
          </p:cNvSpPr>
          <p:nvPr/>
        </p:nvSpPr>
        <p:spPr>
          <a:xfrm>
            <a:off x="4396740" y="5981700"/>
            <a:ext cx="838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lang="ko-KR" altLang="en-US" dirty="0" smtClean="0"/>
              <a:t>초기화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21CE0D-93C2-41E5-A4A4-E8B27BB70940}"/>
              </a:ext>
            </a:extLst>
          </p:cNvPr>
          <p:cNvSpPr>
            <a:spLocks noGrp="1"/>
          </p:cNvSpPr>
          <p:nvPr/>
        </p:nvSpPr>
        <p:spPr>
          <a:xfrm>
            <a:off x="5387340" y="5981700"/>
            <a:ext cx="9429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재시작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70E2C4E-AE6B-4EE2-BFEE-FDBA6B5AA534}"/>
              </a:ext>
            </a:extLst>
          </p:cNvPr>
          <p:cNvSpPr>
            <a:spLocks noGrp="1"/>
          </p:cNvSpPr>
          <p:nvPr/>
        </p:nvSpPr>
        <p:spPr>
          <a:xfrm>
            <a:off x="6368415" y="5981700"/>
            <a:ext cx="6762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정지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C47511-D7D1-4CD5-B22B-CD4310575EB5}"/>
              </a:ext>
            </a:extLst>
          </p:cNvPr>
          <p:cNvSpPr>
            <a:spLocks noGrp="1"/>
          </p:cNvSpPr>
          <p:nvPr/>
        </p:nvSpPr>
        <p:spPr>
          <a:xfrm>
            <a:off x="9572625" y="5981700"/>
            <a:ext cx="6381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재개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71A95E-2524-4FDA-8C68-DB12356D87D7}"/>
              </a:ext>
            </a:extLst>
          </p:cNvPr>
          <p:cNvSpPr>
            <a:spLocks noGrp="1"/>
          </p:cNvSpPr>
          <p:nvPr/>
        </p:nvSpPr>
        <p:spPr>
          <a:xfrm>
            <a:off x="10391775" y="5981700"/>
            <a:ext cx="1073958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복귀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3079672" y="2259330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59EEB43-AC05-4D9F-A963-66339B3EEA2E}"/>
              </a:ext>
            </a:extLst>
          </p:cNvPr>
          <p:cNvSpPr>
            <a:spLocks noGrp="1"/>
          </p:cNvSpPr>
          <p:nvPr/>
        </p:nvSpPr>
        <p:spPr>
          <a:xfrm>
            <a:off x="2559268" y="5974080"/>
            <a:ext cx="745907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4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4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시계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3696038" y="2352675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4755218" y="2259330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5860118" y="2352675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6728798" y="2352675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</p:spTree>
    <p:extLst>
      <p:ext uri="{BB962C8B-B14F-4D97-AF65-F5344CB8AC3E}">
        <p14:creationId xmlns:p14="http://schemas.microsoft.com/office/powerpoint/2010/main" val="373699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4EBFFD-0CCB-49A4-9654-055D8EBEAA6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A54C10-15C8-4876-A857-E2AC69ED02D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대기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B675DF-5675-48AB-8A5A-901B410812CB}"/>
              </a:ext>
            </a:extLst>
          </p:cNvPr>
          <p:cNvSpPr>
            <a:spLocks noGrp="1"/>
          </p:cNvSpPr>
          <p:nvPr/>
        </p:nvSpPr>
        <p:spPr>
          <a:xfrm>
            <a:off x="704850" y="1557338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12D2A2-1CD9-408A-BBFC-19502F40DAB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F4B5EF-C3EB-4985-858A-4C5E3C243CFF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150BA1-9855-4149-9105-DA6C6A83DDB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FA1A90-ECD9-4151-AB99-E3E585E907DF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약 200ms </a:t>
            </a:r>
            <a:r>
              <a:rPr sz="19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부근의</a:t>
            </a:r>
            <a:r>
              <a:rPr sz="19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출력</a:t>
            </a:r>
            <a:r>
              <a:rPr sz="19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패턴</a:t>
            </a:r>
            <a:r>
              <a:rPr sz="19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변화</a:t>
            </a:r>
            <a:endParaRPr sz="195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0EF56F-206D-4CAE-9EF4-85AFCF663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00" b="43500"/>
          <a:stretch/>
        </p:blipFill>
        <p:spPr>
          <a:xfrm>
            <a:off x="685800" y="2352675"/>
            <a:ext cx="7448550" cy="24574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6B1C21A-A6C9-42B1-8012-83BC8AA9A006}"/>
              </a:ext>
            </a:extLst>
          </p:cNvPr>
          <p:cNvSpPr>
            <a:spLocks noGrp="1"/>
          </p:cNvSpPr>
          <p:nvPr/>
        </p:nvSpPr>
        <p:spPr>
          <a:xfrm>
            <a:off x="8474286" y="2072587"/>
            <a:ext cx="2933700" cy="3814762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D93C5C-E98A-4577-A81E-B79C4F51510D}"/>
              </a:ext>
            </a:extLst>
          </p:cNvPr>
          <p:cNvSpPr>
            <a:spLocks noGrp="1"/>
          </p:cNvSpPr>
          <p:nvPr/>
        </p:nvSpPr>
        <p:spPr>
          <a:xfrm>
            <a:off x="2506133" y="3040940"/>
            <a:ext cx="29337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시뮬레이션</a:t>
            </a:r>
            <a:r>
              <a:rPr sz="1800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smtClean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50ms</a:t>
            </a:r>
            <a:endParaRPr sz="1800" b="1" dirty="0">
              <a:solidFill>
                <a:srgbClr val="FFFF00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8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보드</a:t>
            </a:r>
            <a:r>
              <a:rPr sz="18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smtClean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8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graphicFrame>
        <p:nvGraphicFramePr>
          <p:cNvPr id="18" name="표 17"/>
          <p:cNvGraphicFramePr/>
          <p:nvPr>
            <p:extLst>
              <p:ext uri="{D42A27DB-BD31-4B8C-83A1-F6EECF244321}">
                <p14:modId xmlns:p14="http://schemas.microsoft.com/office/powerpoint/2010/main" val="1900152393"/>
              </p:ext>
            </p:extLst>
          </p:nvPr>
        </p:nvGraphicFramePr>
        <p:xfrm>
          <a:off x="685800" y="5076825"/>
          <a:ext cx="7334250" cy="1028700"/>
        </p:xfrm>
        <a:graphic>
          <a:graphicData uri="http://schemas.openxmlformats.org/drawingml/2006/table">
            <a:tbl>
              <a:tblPr/>
              <a:tblGrid>
                <a:gridCol w="25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1회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계수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간격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애니메이션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기본 설정</a:t>
                      </a: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10ms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5초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Testbench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100µs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50ms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" name="직선 연결선 19"/>
          <p:cNvCxnSpPr/>
          <p:nvPr/>
        </p:nvCxnSpPr>
        <p:spPr>
          <a:xfrm flipH="1">
            <a:off x="2492586" y="2352675"/>
            <a:ext cx="13547" cy="163681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4299372" y="2343150"/>
            <a:ext cx="13547" cy="163681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아래로 구부러진 화살표 24"/>
          <p:cNvSpPr/>
          <p:nvPr/>
        </p:nvSpPr>
        <p:spPr>
          <a:xfrm rot="5400000">
            <a:off x="4127566" y="3312321"/>
            <a:ext cx="983388" cy="351906"/>
          </a:xfrm>
          <a:prstGeom prst="curved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55" y="2512811"/>
            <a:ext cx="2278462" cy="724104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089" y="3810491"/>
            <a:ext cx="2346731" cy="67709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817" y="5061157"/>
            <a:ext cx="2201274" cy="740583"/>
          </a:xfrm>
          <a:prstGeom prst="rect">
            <a:avLst/>
          </a:prstGeom>
        </p:spPr>
      </p:pic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>
            <a:off x="9941136" y="3272736"/>
            <a:ext cx="0" cy="45203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>
            <a:off x="9881404" y="4570911"/>
            <a:ext cx="0" cy="45203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 flipH="1">
            <a:off x="9093411" y="3903663"/>
            <a:ext cx="1738313" cy="1"/>
          </a:xfrm>
          <a:prstGeom prst="line">
            <a:avLst/>
          </a:prstGeom>
          <a:noFill/>
          <a:ln w="19050">
            <a:solidFill>
              <a:srgbClr val="FFFF00"/>
            </a:solidFill>
            <a:tailEnd type="triangle"/>
          </a:ln>
        </p:spPr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 flipH="1">
            <a:off x="8860048" y="5220599"/>
            <a:ext cx="9526" cy="471487"/>
          </a:xfrm>
          <a:prstGeom prst="line">
            <a:avLst/>
          </a:prstGeom>
          <a:noFill/>
          <a:ln w="19050">
            <a:solidFill>
              <a:srgbClr val="FFFF00"/>
            </a:solidFill>
            <a:tailEnd type="triangle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FD93C5C-E98A-4577-A81E-B79C4F51510D}"/>
              </a:ext>
            </a:extLst>
          </p:cNvPr>
          <p:cNvSpPr>
            <a:spLocks noGrp="1"/>
          </p:cNvSpPr>
          <p:nvPr/>
        </p:nvSpPr>
        <p:spPr>
          <a:xfrm>
            <a:off x="9066888" y="2162767"/>
            <a:ext cx="1974427" cy="3952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dirty="0" err="1" smtClean="0">
                <a:solidFill>
                  <a:schemeClr val="tx1"/>
                </a:solidFill>
              </a:rPr>
              <a:t>반시계</a:t>
            </a:r>
            <a:r>
              <a:rPr lang="ko-KR" altLang="en-US" sz="1800" dirty="0" smtClean="0">
                <a:solidFill>
                  <a:schemeClr val="tx1"/>
                </a:solidFill>
              </a:rPr>
              <a:t> 방향 회전</a:t>
            </a:r>
            <a:endParaRPr sz="1875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47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D13709-E5A9-489B-A1BD-A24231AD7B8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8F15DC-CD6A-4999-9968-1B794CCC30B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실제 동작 영상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8FE3D6-DAE8-4B0F-9828-CC8175A7289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7FC7A7-F3EA-4A6C-989B-087E2E2BEF5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E32AEB-EA48-40BB-A45B-5393389BA75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1488E3-0F4B-4531-B5D7-FE998CE6C92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D5539D-7CAF-4425-82EA-D26F7988251E}"/>
              </a:ext>
            </a:extLst>
          </p:cNvPr>
          <p:cNvSpPr>
            <a:spLocks noGrp="1"/>
          </p:cNvSpPr>
          <p:nvPr/>
        </p:nvSpPr>
        <p:spPr>
          <a:xfrm>
            <a:off x="685799" y="1714501"/>
            <a:ext cx="8782665" cy="4286250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AB1AD3-999B-4EAE-B671-50092127F3F6}"/>
              </a:ext>
            </a:extLst>
          </p:cNvPr>
          <p:cNvSpPr>
            <a:spLocks noGrp="1"/>
          </p:cNvSpPr>
          <p:nvPr/>
        </p:nvSpPr>
        <p:spPr>
          <a:xfrm>
            <a:off x="9468464" y="1777366"/>
            <a:ext cx="2524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시연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순서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C0B01C-E097-48EF-BF32-1F5CBFA64200}"/>
              </a:ext>
            </a:extLst>
          </p:cNvPr>
          <p:cNvSpPr>
            <a:spLocks noGrp="1"/>
          </p:cNvSpPr>
          <p:nvPr/>
        </p:nvSpPr>
        <p:spPr>
          <a:xfrm>
            <a:off x="9468464" y="2272666"/>
            <a:ext cx="25241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표시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실행</a:t>
            </a:r>
            <a:endParaRPr lang="en-US" sz="180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시계 실행</a:t>
            </a:r>
            <a:endParaRPr lang="en-US" altLang="ko-KR" dirty="0" smtClean="0"/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 실행</a:t>
            </a:r>
            <a:endParaRPr lang="en-US" altLang="ko-KR" sz="180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리셋 시작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측정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재개</a:t>
            </a:r>
            <a:endParaRPr lang="en-US" dirty="0"/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복귀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7" name="20261022_175850_2x_fpga_smal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5534" y="1880233"/>
            <a:ext cx="7924165" cy="401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9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4BD5539D-7CAF-4425-82EA-D26F7988251E}"/>
              </a:ext>
            </a:extLst>
          </p:cNvPr>
          <p:cNvSpPr>
            <a:spLocks noGrp="1"/>
          </p:cNvSpPr>
          <p:nvPr/>
        </p:nvSpPr>
        <p:spPr>
          <a:xfrm>
            <a:off x="6535375" y="3433081"/>
            <a:ext cx="3585756" cy="2810546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D5539D-7CAF-4425-82EA-D26F7988251E}"/>
              </a:ext>
            </a:extLst>
          </p:cNvPr>
          <p:cNvSpPr>
            <a:spLocks noGrp="1"/>
          </p:cNvSpPr>
          <p:nvPr/>
        </p:nvSpPr>
        <p:spPr>
          <a:xfrm>
            <a:off x="1203960" y="3414031"/>
            <a:ext cx="3585756" cy="2810546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B9518-1D3D-4F36-93D9-E83343632F5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  문제 해결 및 구현 후기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062A67-8010-4BED-8041-14AABCFD5567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Trouble Shooting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C4941F-E4B0-4895-AAB3-FC7B9D24670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8A61BD-7E7A-4BC1-9643-363FB06A2BC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AB6F87-B782-4ACA-B6B8-B17D81CAF343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6EC281-0558-4D18-8E18-8A19245F2E3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12CB43-62B7-40FA-A1A2-3B4A235D386F}"/>
              </a:ext>
            </a:extLst>
          </p:cNvPr>
          <p:cNvSpPr>
            <a:spLocks noGrp="1"/>
          </p:cNvSpPr>
          <p:nvPr/>
        </p:nvSpPr>
        <p:spPr>
          <a:xfrm>
            <a:off x="794658" y="1804306"/>
            <a:ext cx="3995057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#</a:t>
            </a:r>
            <a:r>
              <a:rPr lang="en-US" sz="2100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2100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sz="21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21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21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r>
              <a:rPr sz="21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미동작</a:t>
            </a:r>
            <a:endParaRPr sz="210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7C3606-AA75-4A65-AC80-CF8804E81104}"/>
              </a:ext>
            </a:extLst>
          </p:cNvPr>
          <p:cNvSpPr>
            <a:spLocks noGrp="1"/>
          </p:cNvSpPr>
          <p:nvPr/>
        </p:nvSpPr>
        <p:spPr>
          <a:xfrm>
            <a:off x="794658" y="2299606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증상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5EB05A-FE90-4E92-B0B6-6F0ECB92E330}"/>
              </a:ext>
            </a:extLst>
          </p:cNvPr>
          <p:cNvSpPr>
            <a:spLocks noGrp="1"/>
          </p:cNvSpPr>
          <p:nvPr/>
        </p:nvSpPr>
        <p:spPr>
          <a:xfrm>
            <a:off x="1823358" y="2299606"/>
            <a:ext cx="490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STOP에서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약 5초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후에도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미표시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F45E9E-2570-4B83-8522-ADE6C0BBEA8A}"/>
              </a:ext>
            </a:extLst>
          </p:cNvPr>
          <p:cNvSpPr>
            <a:spLocks noGrp="1"/>
          </p:cNvSpPr>
          <p:nvPr/>
        </p:nvSpPr>
        <p:spPr>
          <a:xfrm>
            <a:off x="794658" y="2728231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C0AA35-8454-47C4-9625-BFB989C2CD83}"/>
              </a:ext>
            </a:extLst>
          </p:cNvPr>
          <p:cNvSpPr>
            <a:spLocks noGrp="1"/>
          </p:cNvSpPr>
          <p:nvPr/>
        </p:nvSpPr>
        <p:spPr>
          <a:xfrm>
            <a:off x="1823358" y="2728231"/>
            <a:ext cx="490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 선택 신호 연결 누락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FFB08D-894E-4D19-B58D-D7D000AF0E80}"/>
              </a:ext>
            </a:extLst>
          </p:cNvPr>
          <p:cNvSpPr>
            <a:spLocks noGrp="1"/>
          </p:cNvSpPr>
          <p:nvPr/>
        </p:nvSpPr>
        <p:spPr>
          <a:xfrm>
            <a:off x="794658" y="3156856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214994-69FE-435A-AFEB-D8904A644CDB}"/>
              </a:ext>
            </a:extLst>
          </p:cNvPr>
          <p:cNvSpPr>
            <a:spLocks noGrp="1"/>
          </p:cNvSpPr>
          <p:nvPr/>
        </p:nvSpPr>
        <p:spPr>
          <a:xfrm>
            <a:off x="1823358" y="3156856"/>
            <a:ext cx="490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FSM과 FND 사이 제어선 연결 확인·보완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EB2305-3F34-484C-9EDC-F9B97855E02C}"/>
              </a:ext>
            </a:extLst>
          </p:cNvPr>
          <p:cNvSpPr>
            <a:spLocks noGrp="1"/>
          </p:cNvSpPr>
          <p:nvPr/>
        </p:nvSpPr>
        <p:spPr>
          <a:xfrm>
            <a:off x="6569938" y="2299606"/>
            <a:ext cx="1809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2D98DF-BC60-404F-AA25-867BE614935B}"/>
              </a:ext>
            </a:extLst>
          </p:cNvPr>
          <p:cNvSpPr>
            <a:spLocks noGrp="1"/>
          </p:cNvSpPr>
          <p:nvPr/>
        </p:nvSpPr>
        <p:spPr>
          <a:xfrm>
            <a:off x="6712813" y="2461531"/>
            <a:ext cx="1524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main_fsm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D4A651-FDDF-41B0-985A-A8208FFCB3D1}"/>
              </a:ext>
            </a:extLst>
          </p:cNvPr>
          <p:cNvSpPr>
            <a:spLocks noGrp="1"/>
          </p:cNvSpPr>
          <p:nvPr/>
        </p:nvSpPr>
        <p:spPr>
          <a:xfrm>
            <a:off x="9103588" y="2299606"/>
            <a:ext cx="1809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7D3005-A82F-4E1B-979D-D77A3432100F}"/>
              </a:ext>
            </a:extLst>
          </p:cNvPr>
          <p:cNvSpPr>
            <a:spLocks noGrp="1"/>
          </p:cNvSpPr>
          <p:nvPr/>
        </p:nvSpPr>
        <p:spPr>
          <a:xfrm>
            <a:off x="9246463" y="2461531"/>
            <a:ext cx="1524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FND 제어</a:t>
            </a:r>
          </a:p>
        </p:txBody>
      </p:sp>
      <p:sp>
        <p:nvSpPr>
          <p:cNvPr id="19" name="오른쪽 화살표 18">
            <a:extLst>
              <a:ext uri="{FF2B5EF4-FFF2-40B4-BE49-F238E27FC236}">
                <a16:creationId xmlns:a16="http://schemas.microsoft.com/office/drawing/2014/main" id="{5D91C424-8D0F-4C2D-95DC-7E167E4A11A5}"/>
              </a:ext>
            </a:extLst>
          </p:cNvPr>
          <p:cNvSpPr>
            <a:spLocks noGrp="1"/>
          </p:cNvSpPr>
          <p:nvPr/>
        </p:nvSpPr>
        <p:spPr>
          <a:xfrm>
            <a:off x="8484463" y="2528206"/>
            <a:ext cx="5048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0FE870-8793-465F-B586-5392D45087D5}"/>
              </a:ext>
            </a:extLst>
          </p:cNvPr>
          <p:cNvSpPr>
            <a:spLocks noGrp="1"/>
          </p:cNvSpPr>
          <p:nvPr/>
        </p:nvSpPr>
        <p:spPr>
          <a:xfrm>
            <a:off x="7042219" y="2928256"/>
            <a:ext cx="1337469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mode2_sel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025" y="3452131"/>
            <a:ext cx="3383729" cy="2329898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592" y="3495673"/>
            <a:ext cx="3340553" cy="2252751"/>
          </a:xfrm>
          <a:prstGeom prst="rect">
            <a:avLst/>
          </a:prstGeom>
        </p:spPr>
      </p:pic>
      <p:sp>
        <p:nvSpPr>
          <p:cNvPr id="25" name="오른쪽 화살표 24">
            <a:extLst>
              <a:ext uri="{FF2B5EF4-FFF2-40B4-BE49-F238E27FC236}">
                <a16:creationId xmlns:a16="http://schemas.microsoft.com/office/drawing/2014/main" id="{5D91C424-8D0F-4C2D-95DC-7E167E4A11A5}"/>
              </a:ext>
            </a:extLst>
          </p:cNvPr>
          <p:cNvSpPr>
            <a:spLocks noGrp="1"/>
          </p:cNvSpPr>
          <p:nvPr/>
        </p:nvSpPr>
        <p:spPr>
          <a:xfrm>
            <a:off x="5053132" y="4345992"/>
            <a:ext cx="1289222" cy="523324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5EB05A-FE90-4E92-B0B6-6F0ECB92E330}"/>
              </a:ext>
            </a:extLst>
          </p:cNvPr>
          <p:cNvSpPr>
            <a:spLocks noGrp="1"/>
          </p:cNvSpPr>
          <p:nvPr/>
        </p:nvSpPr>
        <p:spPr>
          <a:xfrm>
            <a:off x="5053132" y="4944289"/>
            <a:ext cx="1330779" cy="3380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725" b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코드 수정 후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5EB05A-FE90-4E92-B0B6-6F0ECB92E330}"/>
              </a:ext>
            </a:extLst>
          </p:cNvPr>
          <p:cNvSpPr>
            <a:spLocks noGrp="1"/>
          </p:cNvSpPr>
          <p:nvPr/>
        </p:nvSpPr>
        <p:spPr>
          <a:xfrm>
            <a:off x="2902812" y="5886570"/>
            <a:ext cx="1330779" cy="3380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7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前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5EB05A-FE90-4E92-B0B6-6F0ECB92E330}"/>
              </a:ext>
            </a:extLst>
          </p:cNvPr>
          <p:cNvSpPr>
            <a:spLocks noGrp="1"/>
          </p:cNvSpPr>
          <p:nvPr/>
        </p:nvSpPr>
        <p:spPr>
          <a:xfrm>
            <a:off x="8274777" y="5838500"/>
            <a:ext cx="1330779" cy="3380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7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後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3122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B9518-1D3D-4F36-93D9-E83343632F5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  문제 해결 및 구현 후기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8A61BD-7E7A-4BC1-9643-363FB06A2BC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AB6F87-B782-4ACA-B6B8-B17D81CAF343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6EC281-0558-4D18-8E18-8A19245F2E3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41" y="201955"/>
            <a:ext cx="10141404" cy="645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49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B9518-1D3D-4F36-93D9-E83343632F5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  문제 해결 및 구현 후기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062A67-8010-4BED-8041-14AABCFD5567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Trouble Shooting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C4941F-E4B0-4895-AAB3-FC7B9D24670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8A61BD-7E7A-4BC1-9643-363FB06A2BC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AB6F87-B782-4ACA-B6B8-B17D81CAF343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6EC281-0558-4D18-8E18-8A19245F2E3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807E9F5-409D-4D93-9DF8-5912E039B644}"/>
              </a:ext>
            </a:extLst>
          </p:cNvPr>
          <p:cNvSpPr>
            <a:spLocks noGrp="1"/>
          </p:cNvSpPr>
          <p:nvPr/>
        </p:nvSpPr>
        <p:spPr>
          <a:xfrm>
            <a:off x="685800" y="1690008"/>
            <a:ext cx="5888366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#2  Multiple Drivers </a:t>
            </a:r>
            <a:r>
              <a:rPr sz="21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오류</a:t>
            </a:r>
            <a:endParaRPr sz="210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295B8DD-04C5-42EF-86AD-92BE9B94B602}"/>
              </a:ext>
            </a:extLst>
          </p:cNvPr>
          <p:cNvSpPr>
            <a:spLocks noGrp="1"/>
          </p:cNvSpPr>
          <p:nvPr/>
        </p:nvSpPr>
        <p:spPr>
          <a:xfrm>
            <a:off x="685800" y="2194833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증상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63189C-4858-4091-8E7D-1F03FCF35C12}"/>
              </a:ext>
            </a:extLst>
          </p:cNvPr>
          <p:cNvSpPr>
            <a:spLocks noGrp="1"/>
          </p:cNvSpPr>
          <p:nvPr/>
        </p:nvSpPr>
        <p:spPr>
          <a:xfrm>
            <a:off x="1400176" y="2151050"/>
            <a:ext cx="3652157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mode2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신호의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다중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구동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충돌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ADD946-B2A8-4158-89D2-B7A0466AF1CE}"/>
              </a:ext>
            </a:extLst>
          </p:cNvPr>
          <p:cNvSpPr>
            <a:spLocks noGrp="1"/>
          </p:cNvSpPr>
          <p:nvPr/>
        </p:nvSpPr>
        <p:spPr>
          <a:xfrm>
            <a:off x="5604783" y="2192116"/>
            <a:ext cx="457199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조치</a:t>
            </a:r>
            <a:endParaRPr sz="165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63CFAA8-E15A-4BC8-B2A5-13BB7A36F7A7}"/>
              </a:ext>
            </a:extLst>
          </p:cNvPr>
          <p:cNvSpPr>
            <a:spLocks noGrp="1"/>
          </p:cNvSpPr>
          <p:nvPr/>
        </p:nvSpPr>
        <p:spPr>
          <a:xfrm>
            <a:off x="6300108" y="2171707"/>
            <a:ext cx="5328557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r_mode2_sel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중복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할당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제거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· 한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순차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블록에서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갱신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2959670"/>
            <a:ext cx="10355120" cy="2953162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2618576"/>
            <a:ext cx="10559143" cy="346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9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BACE5D-7503-4387-8DF8-73696443503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기초 개념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E53106-CD12-474E-895E-41393679EA69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먼저 이해할 것: FF는 언제 값을 저장할까?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04B14-9AA1-4923-A08B-17E3BE1C8BF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C63F8D-E6DF-46F9-AD97-0698888C646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ACC5-FA5D-4B4B-88AF-2BB2CA7D010B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15B184-7C2D-4A70-8408-88C3B45FCD8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891041-9683-409B-AAFA-D834AB6D810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플립플롭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(FF)은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클록의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유효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에지에서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D를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읽어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저장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A32576-78C6-4AD9-B586-61DD38AF07EF}"/>
              </a:ext>
            </a:extLst>
          </p:cNvPr>
          <p:cNvSpPr>
            <a:spLocks noGrp="1"/>
          </p:cNvSpPr>
          <p:nvPr/>
        </p:nvSpPr>
        <p:spPr>
          <a:xfrm>
            <a:off x="685800" y="2943225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입력 D</a:t>
            </a:r>
          </a:p>
        </p:txBody>
      </p:sp>
      <p:sp>
        <p:nvSpPr>
          <p:cNvPr id="9" name="오른쪽 화살표 8">
            <a:extLst>
              <a:ext uri="{FF2B5EF4-FFF2-40B4-BE49-F238E27FC236}">
                <a16:creationId xmlns:a16="http://schemas.microsoft.com/office/drawing/2014/main" id="{64B068AF-E597-4508-BB7B-B131D458DF34}"/>
              </a:ext>
            </a:extLst>
          </p:cNvPr>
          <p:cNvSpPr>
            <a:spLocks noGrp="1"/>
          </p:cNvSpPr>
          <p:nvPr/>
        </p:nvSpPr>
        <p:spPr>
          <a:xfrm>
            <a:off x="2333625" y="3105150"/>
            <a:ext cx="7334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EFEB31-F4DA-48F5-B439-B93325E61609}"/>
              </a:ext>
            </a:extLst>
          </p:cNvPr>
          <p:cNvSpPr>
            <a:spLocks noGrp="1"/>
          </p:cNvSpPr>
          <p:nvPr/>
        </p:nvSpPr>
        <p:spPr>
          <a:xfrm>
            <a:off x="3248025" y="2781300"/>
            <a:ext cx="2667000" cy="8953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795928-6C92-474A-AC17-6C700555FF03}"/>
              </a:ext>
            </a:extLst>
          </p:cNvPr>
          <p:cNvSpPr>
            <a:spLocks noGrp="1"/>
          </p:cNvSpPr>
          <p:nvPr/>
        </p:nvSpPr>
        <p:spPr>
          <a:xfrm>
            <a:off x="3390900" y="2924175"/>
            <a:ext cx="2381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Flip-Flop</a:t>
            </a: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EE7510F1-17BD-4E70-9EA3-CB4DAC893827}"/>
              </a:ext>
            </a:extLst>
          </p:cNvPr>
          <p:cNvSpPr>
            <a:spLocks noGrp="1"/>
          </p:cNvSpPr>
          <p:nvPr/>
        </p:nvSpPr>
        <p:spPr>
          <a:xfrm>
            <a:off x="6096000" y="3105150"/>
            <a:ext cx="7429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25E8E6-8916-487D-9D5A-444197215245}"/>
              </a:ext>
            </a:extLst>
          </p:cNvPr>
          <p:cNvSpPr>
            <a:spLocks noGrp="1"/>
          </p:cNvSpPr>
          <p:nvPr/>
        </p:nvSpPr>
        <p:spPr>
          <a:xfrm>
            <a:off x="7115175" y="2943225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출력 Q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3F1685-2D53-4AB8-8183-1373C54BA207}"/>
              </a:ext>
            </a:extLst>
          </p:cNvPr>
          <p:cNvSpPr>
            <a:spLocks noGrp="1"/>
          </p:cNvSpPr>
          <p:nvPr/>
        </p:nvSpPr>
        <p:spPr>
          <a:xfrm>
            <a:off x="3543300" y="3895725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35B3B81A-7E7B-4B23-8A9C-9AC29DE79355}"/>
              </a:ext>
            </a:extLst>
          </p:cNvPr>
          <p:cNvSpPr>
            <a:spLocks noGrp="1"/>
          </p:cNvSpPr>
          <p:nvPr/>
        </p:nvSpPr>
        <p:spPr>
          <a:xfrm flipV="1">
            <a:off x="4591050" y="3676650"/>
            <a:ext cx="953" cy="13335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B56D70-A4D6-44B0-8378-00C53727646B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95BF16-A3E7-491F-A873-3DD8A5023F1C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에지에서 값을 선택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DD364D-607C-470F-B93D-407E1662CAF6}"/>
              </a:ext>
            </a:extLst>
          </p:cNvPr>
          <p:cNvSpPr>
            <a:spLocks noGrp="1"/>
          </p:cNvSpPr>
          <p:nvPr/>
        </p:nvSpPr>
        <p:spPr>
          <a:xfrm>
            <a:off x="685800" y="5172075"/>
            <a:ext cx="5143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 D는 에지 주변에서 안정돼야 함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선택한 값은 출력 Q에 저장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D86F11-3555-4479-ACB7-1C316BB6F3D8}"/>
              </a:ext>
            </a:extLst>
          </p:cNvPr>
          <p:cNvSpPr>
            <a:spLocks noGrp="1"/>
          </p:cNvSpPr>
          <p:nvPr/>
        </p:nvSpPr>
        <p:spPr>
          <a:xfrm>
            <a:off x="6781800" y="4676775"/>
            <a:ext cx="4724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출력도 즉시 바뀌지는 않음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BF71E8-1875-4A7A-8742-30874A802CE2}"/>
              </a:ext>
            </a:extLst>
          </p:cNvPr>
          <p:cNvSpPr>
            <a:spLocks noGrp="1"/>
          </p:cNvSpPr>
          <p:nvPr/>
        </p:nvSpPr>
        <p:spPr>
          <a:xfrm>
            <a:off x="6781800" y="5172075"/>
            <a:ext cx="4724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클록 에지 후 Q가 바뀌기까지의 지연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tCQ = Clock-to-Q Delay</a:t>
            </a:r>
          </a:p>
        </p:txBody>
      </p:sp>
    </p:spTree>
    <p:extLst>
      <p:ext uri="{BB962C8B-B14F-4D97-AF65-F5344CB8AC3E}">
        <p14:creationId xmlns:p14="http://schemas.microsoft.com/office/powerpoint/2010/main" val="299708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A16EDBE3-8764-4684-B96C-D7B45E48FB5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개념·문제점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5BEA0A-8F67-4639-AC9B-BF063C51F07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Setup / Hold Time: 샘플링 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5AB081-4471-429B-9B81-0080CB15378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A94ED8-2856-4475-9CAD-69DC1DD8E71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6D5D82-2C0B-472D-A1D9-71AD6F1A8351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D34D05-D217-4EA1-9307-D498BF07240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0D2347-8939-4E67-B98D-8AEC7F304FDE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유효 클록 에지 전후에 데이터가 유지돼야 하는 최소 시간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79B16A-3FB7-496B-BB65-C790C27E19E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데이터 안정 구간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39DA20-E624-4806-8735-A882525FEE7F}"/>
              </a:ext>
            </a:extLst>
          </p:cNvPr>
          <p:cNvSpPr>
            <a:spLocks noGrp="1"/>
          </p:cNvSpPr>
          <p:nvPr/>
        </p:nvSpPr>
        <p:spPr>
          <a:xfrm>
            <a:off x="3171825" y="3162300"/>
            <a:ext cx="1809750" cy="1676400"/>
          </a:xfrm>
          <a:prstGeom prst="rect">
            <a:avLst/>
          </a:prstGeom>
          <a:solidFill>
            <a:srgbClr val="EEF3F8"/>
          </a:solidFill>
          <a:ln w="14288">
            <a:solidFill>
              <a:srgbClr val="EEF3F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D2D42B-5A90-4138-99FB-2D2079090398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12ACBA8-A8DA-4F1F-845B-D0DC2AAFD5CD}"/>
              </a:ext>
            </a:extLst>
          </p:cNvPr>
          <p:cNvSpPr>
            <a:spLocks noGrp="1"/>
          </p:cNvSpPr>
          <p:nvPr/>
        </p:nvSpPr>
        <p:spPr>
          <a:xfrm>
            <a:off x="1666875" y="3552825"/>
            <a:ext cx="22383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9A5A668F-CA8C-4118-92F2-83D4BC59137D}"/>
              </a:ext>
            </a:extLst>
          </p:cNvPr>
          <p:cNvSpPr>
            <a:spLocks noGrp="1"/>
          </p:cNvSpPr>
          <p:nvPr/>
        </p:nvSpPr>
        <p:spPr>
          <a:xfrm flipV="1">
            <a:off x="3905250" y="3228975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5997D340-2423-46C8-88E6-9B9AA2432D3A}"/>
              </a:ext>
            </a:extLst>
          </p:cNvPr>
          <p:cNvSpPr>
            <a:spLocks noGrp="1"/>
          </p:cNvSpPr>
          <p:nvPr/>
        </p:nvSpPr>
        <p:spPr>
          <a:xfrm>
            <a:off x="3905250" y="3228975"/>
            <a:ext cx="16668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4D2B296D-09E2-424B-B4B6-65AF60ED50E4}"/>
              </a:ext>
            </a:extLst>
          </p:cNvPr>
          <p:cNvSpPr>
            <a:spLocks noGrp="1"/>
          </p:cNvSpPr>
          <p:nvPr/>
        </p:nvSpPr>
        <p:spPr>
          <a:xfrm>
            <a:off x="5572125" y="3228975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70697E5-CBF1-4B7A-9CFB-C7707A01379B}"/>
              </a:ext>
            </a:extLst>
          </p:cNvPr>
          <p:cNvSpPr>
            <a:spLocks noGrp="1"/>
          </p:cNvSpPr>
          <p:nvPr/>
        </p:nvSpPr>
        <p:spPr>
          <a:xfrm>
            <a:off x="5572125" y="3552825"/>
            <a:ext cx="857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2588F1-B95D-493F-BE35-552BD16E0367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5BB5EF3-11C9-4FED-9888-5B59F79AD85B}"/>
              </a:ext>
            </a:extLst>
          </p:cNvPr>
          <p:cNvSpPr>
            <a:spLocks noGrp="1"/>
          </p:cNvSpPr>
          <p:nvPr/>
        </p:nvSpPr>
        <p:spPr>
          <a:xfrm>
            <a:off x="1666875" y="4381500"/>
            <a:ext cx="11430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0FF71DFE-59C1-4E65-936D-0838788209A6}"/>
              </a:ext>
            </a:extLst>
          </p:cNvPr>
          <p:cNvSpPr>
            <a:spLocks noGrp="1"/>
          </p:cNvSpPr>
          <p:nvPr/>
        </p:nvSpPr>
        <p:spPr>
          <a:xfrm flipV="1">
            <a:off x="2809875" y="40576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D7DA799-1842-40DB-A46B-CB3558C0F897}"/>
              </a:ext>
            </a:extLst>
          </p:cNvPr>
          <p:cNvSpPr>
            <a:spLocks noGrp="1"/>
          </p:cNvSpPr>
          <p:nvPr/>
        </p:nvSpPr>
        <p:spPr>
          <a:xfrm>
            <a:off x="2809875" y="4057650"/>
            <a:ext cx="2476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6AFCA14C-ED56-4E96-ADD5-068C458DC216}"/>
              </a:ext>
            </a:extLst>
          </p:cNvPr>
          <p:cNvSpPr>
            <a:spLocks noGrp="1"/>
          </p:cNvSpPr>
          <p:nvPr/>
        </p:nvSpPr>
        <p:spPr>
          <a:xfrm>
            <a:off x="5286375" y="40576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455833CC-D04E-43A6-981D-447212A3EDF4}"/>
              </a:ext>
            </a:extLst>
          </p:cNvPr>
          <p:cNvSpPr>
            <a:spLocks noGrp="1"/>
          </p:cNvSpPr>
          <p:nvPr/>
        </p:nvSpPr>
        <p:spPr>
          <a:xfrm>
            <a:off x="5286375" y="4381500"/>
            <a:ext cx="11430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C9368E79-DA05-43DA-A32B-0BE98DDBFFFB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953" cy="1819275"/>
          </a:xfrm>
          <a:prstGeom prst="line">
            <a:avLst/>
          </a:prstGeom>
          <a:noFill/>
          <a:ln w="12383">
            <a:solidFill>
              <a:srgbClr val="8199B3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1966F57E-96E8-4748-A98F-211EB1A3C560}"/>
              </a:ext>
            </a:extLst>
          </p:cNvPr>
          <p:cNvSpPr>
            <a:spLocks noGrp="1"/>
          </p:cNvSpPr>
          <p:nvPr/>
        </p:nvSpPr>
        <p:spPr>
          <a:xfrm>
            <a:off x="3171825" y="4781550"/>
            <a:ext cx="18097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6D5D6E-A7CC-4594-895A-EAC6A8ED875F}"/>
              </a:ext>
            </a:extLst>
          </p:cNvPr>
          <p:cNvSpPr>
            <a:spLocks noGrp="1"/>
          </p:cNvSpPr>
          <p:nvPr/>
        </p:nvSpPr>
        <p:spPr>
          <a:xfrm>
            <a:off x="3171825" y="4914900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Setup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6B1BA3D-FE7A-4B48-9828-93E24B6A9F8F}"/>
              </a:ext>
            </a:extLst>
          </p:cNvPr>
          <p:cNvSpPr>
            <a:spLocks noGrp="1"/>
          </p:cNvSpPr>
          <p:nvPr/>
        </p:nvSpPr>
        <p:spPr>
          <a:xfrm>
            <a:off x="4229100" y="4914900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Hold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788DAC-C75A-4873-BCE7-0BDFDA585606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Setup: 에지 이전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EA0282-43C4-42EB-94AE-2D74C0B1C671}"/>
              </a:ext>
            </a:extLst>
          </p:cNvPr>
          <p:cNvSpPr>
            <a:spLocks noGrp="1"/>
          </p:cNvSpPr>
          <p:nvPr/>
        </p:nvSpPr>
        <p:spPr>
          <a:xfrm>
            <a:off x="7334250" y="3019425"/>
            <a:ext cx="41719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저장할 데이터가 미리 도착해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안정적으로 유지되는 시간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D5B273F-FBF7-47C4-A80E-A08444E18694}"/>
              </a:ext>
            </a:extLst>
          </p:cNvPr>
          <p:cNvSpPr>
            <a:spLocks noGrp="1"/>
          </p:cNvSpPr>
          <p:nvPr/>
        </p:nvSpPr>
        <p:spPr>
          <a:xfrm>
            <a:off x="7334250" y="3971925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Hold: 에지 이후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81E3E1-3A82-4062-8D1D-7F359BB9B436}"/>
              </a:ext>
            </a:extLst>
          </p:cNvPr>
          <p:cNvSpPr>
            <a:spLocks noGrp="1"/>
          </p:cNvSpPr>
          <p:nvPr/>
        </p:nvSpPr>
        <p:spPr>
          <a:xfrm>
            <a:off x="7334250" y="4419600"/>
            <a:ext cx="41719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샘플링 구간이 끝나기 전에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다음 값이 오면 저장에 영향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EA7A7FB-980B-46D4-9BA3-D5DCC37DC5EC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위반 시 잘못된 값 저장 또는 Metastability 가능 · 상승/하강 중 소자의 유효 에지 기준</a:t>
            </a:r>
          </a:p>
        </p:txBody>
      </p:sp>
    </p:spTree>
    <p:extLst>
      <p:ext uri="{BB962C8B-B14F-4D97-AF65-F5344CB8AC3E}">
        <p14:creationId xmlns:p14="http://schemas.microsoft.com/office/powerpoint/2010/main" val="365537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C9A85F48-2F92-443A-9431-6FB7666E1D2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원인·해결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D567AF-A181-4DDC-9B69-F6C04E99ECE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Setup / Hold </a:t>
            </a:r>
            <a:r>
              <a:rPr sz="3150" b="1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Time: </a:t>
            </a: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예제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E1EE65-68C6-4550-8013-5BBDDCEC5699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FDF3991-A3A3-4417-ACED-6397FDDBE99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0D98D8-26A5-417D-A734-3D8D23E6AE3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6F0AA9-18E5-4BCB-A0C0-361F78F736F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A86719-394E-47CD-BBE6-65B2315C874F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100MHz → 10ns / tCQ: 클록 에지 후 Q가 바뀌기까지의 지연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5EAD7F-76D7-4B7B-B3C7-88EBE3F3912B}"/>
              </a:ext>
            </a:extLst>
          </p:cNvPr>
          <p:cNvSpPr>
            <a:spLocks noGrp="1"/>
          </p:cNvSpPr>
          <p:nvPr/>
        </p:nvSpPr>
        <p:spPr>
          <a:xfrm>
            <a:off x="685800" y="2676525"/>
            <a:ext cx="128587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DFD006-45A4-47E9-9805-2260457F7CB8}"/>
              </a:ext>
            </a:extLst>
          </p:cNvPr>
          <p:cNvSpPr>
            <a:spLocks noGrp="1"/>
          </p:cNvSpPr>
          <p:nvPr/>
        </p:nvSpPr>
        <p:spPr>
          <a:xfrm>
            <a:off x="828675" y="281940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10" name="오른쪽 화살표 9">
            <a:extLst>
              <a:ext uri="{FF2B5EF4-FFF2-40B4-BE49-F238E27FC236}">
                <a16:creationId xmlns:a16="http://schemas.microsoft.com/office/drawing/2014/main" id="{A7912D61-67C4-4DD5-AAC0-EBAAC19610D4}"/>
              </a:ext>
            </a:extLst>
          </p:cNvPr>
          <p:cNvSpPr>
            <a:spLocks noGrp="1"/>
          </p:cNvSpPr>
          <p:nvPr/>
        </p:nvSpPr>
        <p:spPr>
          <a:xfrm>
            <a:off x="2152650" y="2905125"/>
            <a:ext cx="5238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898AC9-FFF4-4CC2-B01F-58024441753A}"/>
              </a:ext>
            </a:extLst>
          </p:cNvPr>
          <p:cNvSpPr>
            <a:spLocks noGrp="1"/>
          </p:cNvSpPr>
          <p:nvPr/>
        </p:nvSpPr>
        <p:spPr>
          <a:xfrm>
            <a:off x="2867025" y="2676525"/>
            <a:ext cx="25336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D26F41-8ED6-4422-B7A5-EB89C27C73EC}"/>
              </a:ext>
            </a:extLst>
          </p:cNvPr>
          <p:cNvSpPr>
            <a:spLocks noGrp="1"/>
          </p:cNvSpPr>
          <p:nvPr/>
        </p:nvSpPr>
        <p:spPr>
          <a:xfrm>
            <a:off x="3009900" y="2819400"/>
            <a:ext cx="22479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조합논리</a:t>
            </a:r>
          </a:p>
        </p:txBody>
      </p:sp>
      <p:sp>
        <p:nvSpPr>
          <p:cNvPr id="13" name="오른쪽 화살표 12">
            <a:extLst>
              <a:ext uri="{FF2B5EF4-FFF2-40B4-BE49-F238E27FC236}">
                <a16:creationId xmlns:a16="http://schemas.microsoft.com/office/drawing/2014/main" id="{394683D5-C2EF-4341-9872-5A8153F9EC77}"/>
              </a:ext>
            </a:extLst>
          </p:cNvPr>
          <p:cNvSpPr>
            <a:spLocks noGrp="1"/>
          </p:cNvSpPr>
          <p:nvPr/>
        </p:nvSpPr>
        <p:spPr>
          <a:xfrm>
            <a:off x="5581650" y="2905125"/>
            <a:ext cx="5238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0046D0-EB6A-4DB9-82AD-F42369EA19EE}"/>
              </a:ext>
            </a:extLst>
          </p:cNvPr>
          <p:cNvSpPr>
            <a:spLocks noGrp="1"/>
          </p:cNvSpPr>
          <p:nvPr/>
        </p:nvSpPr>
        <p:spPr>
          <a:xfrm>
            <a:off x="6296025" y="2676525"/>
            <a:ext cx="128587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79161C-E3A6-4625-9009-56F81A6DE79A}"/>
              </a:ext>
            </a:extLst>
          </p:cNvPr>
          <p:cNvSpPr>
            <a:spLocks noGrp="1"/>
          </p:cNvSpPr>
          <p:nvPr/>
        </p:nvSpPr>
        <p:spPr>
          <a:xfrm>
            <a:off x="6438900" y="281940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BAB46D-B7AB-44BB-B67E-1F72F8FE5926}"/>
              </a:ext>
            </a:extLst>
          </p:cNvPr>
          <p:cNvSpPr>
            <a:spLocks noGrp="1"/>
          </p:cNvSpPr>
          <p:nvPr/>
        </p:nvSpPr>
        <p:spPr>
          <a:xfrm>
            <a:off x="685800" y="3457575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tCQ = 1ns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6C8A5A-23AC-4C02-AFCE-F9DC987E07F7}"/>
              </a:ext>
            </a:extLst>
          </p:cNvPr>
          <p:cNvSpPr>
            <a:spLocks noGrp="1"/>
          </p:cNvSpPr>
          <p:nvPr/>
        </p:nvSpPr>
        <p:spPr>
          <a:xfrm>
            <a:off x="2867025" y="345757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Logic Delay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F8AB45-63A0-4995-8868-D7F8CC958454}"/>
              </a:ext>
            </a:extLst>
          </p:cNvPr>
          <p:cNvSpPr>
            <a:spLocks noGrp="1"/>
          </p:cNvSpPr>
          <p:nvPr/>
        </p:nvSpPr>
        <p:spPr>
          <a:xfrm>
            <a:off x="6296025" y="34575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Setup = 1ns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800387-FAA5-42D3-A7C7-8EEF9C04C4F2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B94DBEF-1D43-425D-B5A0-B82C39AB8A34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조합 지연 6ns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A38BFB-C69F-408B-9220-598B5E06EFDB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 + 6 + 1 = 8ns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0CEA11-FC9F-43C6-8F96-4B8F6024489B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10 − 8 = +2ns 여유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33334C-6748-415D-972D-5C669C855A1E}"/>
              </a:ext>
            </a:extLst>
          </p:cNvPr>
          <p:cNvSpPr>
            <a:spLocks noGrp="1"/>
          </p:cNvSpPr>
          <p:nvPr/>
        </p:nvSpPr>
        <p:spPr>
          <a:xfrm>
            <a:off x="6629400" y="4295775"/>
            <a:ext cx="4876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조합 지연 9ns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4E0668-A6EE-4E36-8002-BBA97808D7F0}"/>
              </a:ext>
            </a:extLst>
          </p:cNvPr>
          <p:cNvSpPr>
            <a:spLocks noGrp="1"/>
          </p:cNvSpPr>
          <p:nvPr/>
        </p:nvSpPr>
        <p:spPr>
          <a:xfrm>
            <a:off x="6629400" y="4772025"/>
            <a:ext cx="48768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 + 9 + 1 = 11ns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70A371-569E-4036-BDAB-3BA6FB2BC6F3}"/>
              </a:ext>
            </a:extLst>
          </p:cNvPr>
          <p:cNvSpPr>
            <a:spLocks noGrp="1"/>
          </p:cNvSpPr>
          <p:nvPr/>
        </p:nvSpPr>
        <p:spPr>
          <a:xfrm>
            <a:off x="6629400" y="5353050"/>
            <a:ext cx="4876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10 − 11 = −1ns 위반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5BE8E1-5228-4FC0-8623-4027BD262FA6}"/>
              </a:ext>
            </a:extLst>
          </p:cNvPr>
          <p:cNvSpPr>
            <a:spLocks noGrp="1"/>
          </p:cNvSpPr>
          <p:nvPr/>
        </p:nvSpPr>
        <p:spPr>
          <a:xfrm>
            <a:off x="9115425" y="2676525"/>
            <a:ext cx="23907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tCQ</a:t>
            </a:r>
          </a:p>
          <a:p>
            <a: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Clock-to-Q</a:t>
            </a:r>
          </a:p>
          <a:p>
            <a: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Delay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92A9776-4740-48C1-9ABC-5B023570074D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교육용 수치 · 실제 타이밍 분석은 클록 오차도 고려 · Setup: 경로 단축 / Hold: 최소 지연 조정</a:t>
            </a:r>
          </a:p>
        </p:txBody>
      </p:sp>
    </p:spTree>
    <p:extLst>
      <p:ext uri="{BB962C8B-B14F-4D97-AF65-F5344CB8AC3E}">
        <p14:creationId xmlns:p14="http://schemas.microsoft.com/office/powerpoint/2010/main" val="274312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1F7389-55D4-48B7-9046-40CB32ADAB3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원인·문제점·해결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B22540-3AD3-4CB8-AEBA-058424FCD0E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Hold: 너무 빠른 데이터의 문제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380C62-69A6-416F-B07C-1D7E61A89797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C8EC37-E32F-468E-B84C-B61FD5C0052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7C1C5D-6AF3-45FF-AC4D-27784B93EA1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36A4BE-FB34-415B-BDD8-2BAD02B224A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156F42-40CC-4400-A4AA-16F43FBD05AC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개념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유효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에지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직후에도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데이터가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잠시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유지</a:t>
            </a:r>
            <a:r>
              <a:rPr lang="en-US" sz="20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0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필요</a:t>
            </a:r>
            <a:endParaRPr sz="20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F8E858-22DB-4135-9F08-D13143119E3C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6A2424-1566-4830-9EC1-34F931472D67}"/>
              </a:ext>
            </a:extLst>
          </p:cNvPr>
          <p:cNvSpPr>
            <a:spLocks noGrp="1"/>
          </p:cNvSpPr>
          <p:nvPr/>
        </p:nvSpPr>
        <p:spPr>
          <a:xfrm>
            <a:off x="828675" y="277177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10" name="오른쪽 화살표 9">
            <a:extLst>
              <a:ext uri="{FF2B5EF4-FFF2-40B4-BE49-F238E27FC236}">
                <a16:creationId xmlns:a16="http://schemas.microsoft.com/office/drawing/2014/main" id="{1C3AC5D3-377E-4DF2-847F-759BBB16B359}"/>
              </a:ext>
            </a:extLst>
          </p:cNvPr>
          <p:cNvSpPr>
            <a:spLocks noGrp="1"/>
          </p:cNvSpPr>
          <p:nvPr/>
        </p:nvSpPr>
        <p:spPr>
          <a:xfrm>
            <a:off x="2076450" y="2867025"/>
            <a:ext cx="5238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3BA8BD-681E-4383-B1BB-D2E00BE78F51}"/>
              </a:ext>
            </a:extLst>
          </p:cNvPr>
          <p:cNvSpPr>
            <a:spLocks noGrp="1"/>
          </p:cNvSpPr>
          <p:nvPr/>
        </p:nvSpPr>
        <p:spPr>
          <a:xfrm>
            <a:off x="2752725" y="2628900"/>
            <a:ext cx="27527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86216E-5A7C-4A3A-A2F5-B1EBFD8AB892}"/>
              </a:ext>
            </a:extLst>
          </p:cNvPr>
          <p:cNvSpPr>
            <a:spLocks noGrp="1"/>
          </p:cNvSpPr>
          <p:nvPr/>
        </p:nvSpPr>
        <p:spPr>
          <a:xfrm>
            <a:off x="2895600" y="2771775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매우 짧은 경로</a:t>
            </a:r>
          </a:p>
        </p:txBody>
      </p:sp>
      <p:sp>
        <p:nvSpPr>
          <p:cNvPr id="13" name="오른쪽 화살표 12">
            <a:extLst>
              <a:ext uri="{FF2B5EF4-FFF2-40B4-BE49-F238E27FC236}">
                <a16:creationId xmlns:a16="http://schemas.microsoft.com/office/drawing/2014/main" id="{BA114C7A-71C4-4CF4-9626-633DA6783C4F}"/>
              </a:ext>
            </a:extLst>
          </p:cNvPr>
          <p:cNvSpPr>
            <a:spLocks noGrp="1"/>
          </p:cNvSpPr>
          <p:nvPr/>
        </p:nvSpPr>
        <p:spPr>
          <a:xfrm>
            <a:off x="5657850" y="2867025"/>
            <a:ext cx="5238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B3F0CF-1A6A-4CCA-A96F-AB1411BD55E9}"/>
              </a:ext>
            </a:extLst>
          </p:cNvPr>
          <p:cNvSpPr>
            <a:spLocks noGrp="1"/>
          </p:cNvSpPr>
          <p:nvPr/>
        </p:nvSpPr>
        <p:spPr>
          <a:xfrm>
            <a:off x="6334125" y="2628900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A6A947-E7D8-4349-ACB8-7F1DEC8F142E}"/>
              </a:ext>
            </a:extLst>
          </p:cNvPr>
          <p:cNvSpPr>
            <a:spLocks noGrp="1"/>
          </p:cNvSpPr>
          <p:nvPr/>
        </p:nvSpPr>
        <p:spPr>
          <a:xfrm>
            <a:off x="6477000" y="277177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04E9ED-D872-41B2-828B-ED6DEFACF011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tCQ(min) = 0.2ns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2ED72E-1C94-418D-8682-E6545620CB86}"/>
              </a:ext>
            </a:extLst>
          </p:cNvPr>
          <p:cNvSpPr>
            <a:spLocks noGrp="1"/>
          </p:cNvSpPr>
          <p:nvPr/>
        </p:nvSpPr>
        <p:spPr>
          <a:xfrm>
            <a:off x="4581525" y="3419475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Logic(min) = 0.1ns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2E626B-0A60-4278-B230-8C2DE9351304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800B96-19F2-4D3F-8390-FBBED319AB1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5143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문제점 · Hold 위반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09F70F7-09EE-4599-9A50-FBCB848FEE8C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5143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0.2 + 0.1 = 0.3ns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ED28A5-606D-4BC4-BB74-BD08A8BAA2DF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5524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0.3 &lt; tHold 0.5ns → −0.2ns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B2ACE1-7B1A-4A62-9826-C90A1F766359}"/>
              </a:ext>
            </a:extLst>
          </p:cNvPr>
          <p:cNvSpPr>
            <a:spLocks noGrp="1"/>
          </p:cNvSpPr>
          <p:nvPr/>
        </p:nvSpPr>
        <p:spPr>
          <a:xfrm>
            <a:off x="6896100" y="4267200"/>
            <a:ext cx="46101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해결 방법 · 최소 지연 확보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D38CB01-F581-4466-9660-ED0E6403EC87}"/>
              </a:ext>
            </a:extLst>
          </p:cNvPr>
          <p:cNvSpPr>
            <a:spLocks noGrp="1"/>
          </p:cNvSpPr>
          <p:nvPr/>
        </p:nvSpPr>
        <p:spPr>
          <a:xfrm>
            <a:off x="6896100" y="4772025"/>
            <a:ext cx="46101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경로 지연을 0.3ns 더 확보하면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0.2 + 0.4 − 0.5 = +0.1ns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배치·배선 후 Setup도 재검증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69F461-9FB7-49BF-B022-C1E05AB14F48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Setup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은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늦은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도착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Hold는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빠른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도착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5488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445C634-F8DB-4ACB-A8E6-E1D3B5C4706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DC8925-2ED4-4A60-B32A-ACB3CE39BA2C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Clock Skew: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클록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도착시간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차이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7C8433-2A92-4587-9242-97BF311FC2E3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31B39E-1EE5-416E-A2A9-C9A16B7C7B1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D0BBE4-3267-4DF1-B523-5FF2AFB1B3CF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CF672E-9B21-4AAA-88C3-CE3B7D8C7EA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DEE684-D49F-4B15-845E-F6DBA7F4023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정의 · 같은 클록 에지가 FF마다 도착하는 시각의 차이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392212-351B-4F41-97D7-FBE1084E3CB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5F472C-47A2-463F-ADE1-A93123A76516}"/>
              </a:ext>
            </a:extLst>
          </p:cNvPr>
          <p:cNvSpPr>
            <a:spLocks noGrp="1"/>
          </p:cNvSpPr>
          <p:nvPr/>
        </p:nvSpPr>
        <p:spPr>
          <a:xfrm>
            <a:off x="828675" y="315277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 Source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BFAD650-86D3-44B7-8FF6-E83F5C53A117}"/>
              </a:ext>
            </a:extLst>
          </p:cNvPr>
          <p:cNvSpPr>
            <a:spLocks noGrp="1"/>
          </p:cNvSpPr>
          <p:nvPr/>
        </p:nvSpPr>
        <p:spPr>
          <a:xfrm>
            <a:off x="2686050" y="3305175"/>
            <a:ext cx="7334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449711D1-A5E1-43F0-AFF1-FBAF09D86276}"/>
              </a:ext>
            </a:extLst>
          </p:cNvPr>
          <p:cNvSpPr>
            <a:spLocks noGrp="1"/>
          </p:cNvSpPr>
          <p:nvPr/>
        </p:nvSpPr>
        <p:spPr>
          <a:xfrm>
            <a:off x="3419475" y="2733675"/>
            <a:ext cx="953" cy="14859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8B087604-958D-4FA1-8E54-C720B631D8F5}"/>
              </a:ext>
            </a:extLst>
          </p:cNvPr>
          <p:cNvSpPr>
            <a:spLocks noGrp="1"/>
          </p:cNvSpPr>
          <p:nvPr/>
        </p:nvSpPr>
        <p:spPr>
          <a:xfrm>
            <a:off x="3419475" y="2733675"/>
            <a:ext cx="166687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5823D7A6-9435-4FD6-95AA-6F65EF7AF5AB}"/>
              </a:ext>
            </a:extLst>
          </p:cNvPr>
          <p:cNvSpPr>
            <a:spLocks noGrp="1"/>
          </p:cNvSpPr>
          <p:nvPr/>
        </p:nvSpPr>
        <p:spPr>
          <a:xfrm>
            <a:off x="3419475" y="4219575"/>
            <a:ext cx="166687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F1F9B0-C01A-4FE4-9649-38782F08D039}"/>
              </a:ext>
            </a:extLst>
          </p:cNvPr>
          <p:cNvSpPr>
            <a:spLocks noGrp="1"/>
          </p:cNvSpPr>
          <p:nvPr/>
        </p:nvSpPr>
        <p:spPr>
          <a:xfrm>
            <a:off x="5086350" y="2466975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E06906-CB85-4137-A5F9-A873352C3253}"/>
              </a:ext>
            </a:extLst>
          </p:cNvPr>
          <p:cNvSpPr>
            <a:spLocks noGrp="1"/>
          </p:cNvSpPr>
          <p:nvPr/>
        </p:nvSpPr>
        <p:spPr>
          <a:xfrm>
            <a:off x="5229225" y="2609850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2DBD05-43D2-4018-B724-0FFB0D89CF8B}"/>
              </a:ext>
            </a:extLst>
          </p:cNvPr>
          <p:cNvSpPr>
            <a:spLocks noGrp="1"/>
          </p:cNvSpPr>
          <p:nvPr/>
        </p:nvSpPr>
        <p:spPr>
          <a:xfrm>
            <a:off x="5086350" y="3952875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FB48D7-E93A-4F83-A8C2-764B63E61BC6}"/>
              </a:ext>
            </a:extLst>
          </p:cNvPr>
          <p:cNvSpPr>
            <a:spLocks noGrp="1"/>
          </p:cNvSpPr>
          <p:nvPr/>
        </p:nvSpPr>
        <p:spPr>
          <a:xfrm>
            <a:off x="5229225" y="4095750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E12B5A-DEC8-40D8-8131-CA24D7453D52}"/>
              </a:ext>
            </a:extLst>
          </p:cNvPr>
          <p:cNvSpPr>
            <a:spLocks noGrp="1"/>
          </p:cNvSpPr>
          <p:nvPr/>
        </p:nvSpPr>
        <p:spPr>
          <a:xfrm>
            <a:off x="6686550" y="260985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0ns 도착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AE9E15-57C5-443E-B100-AB0A2EF3D4FB}"/>
              </a:ext>
            </a:extLst>
          </p:cNvPr>
          <p:cNvSpPr>
            <a:spLocks noGrp="1"/>
          </p:cNvSpPr>
          <p:nvPr/>
        </p:nvSpPr>
        <p:spPr>
          <a:xfrm>
            <a:off x="6686550" y="4095750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+0.3ns 도착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61FD17-0B0E-48A9-8C53-5A34DB34DD79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수신 FF2가 0.3ns 늦는 경우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51D66F-D3F3-4F13-943B-064D4F1718B3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Skew = tCapture − tLaunch = +0.3ns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050A70-89D8-493E-AC25-95D0F287F88B}"/>
              </a:ext>
            </a:extLst>
          </p:cNvPr>
          <p:cNvSpPr>
            <a:spLocks noGrp="1"/>
          </p:cNvSpPr>
          <p:nvPr/>
        </p:nvSpPr>
        <p:spPr>
          <a:xfrm>
            <a:off x="8982075" y="2590800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Setup에는 유리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8CF13C-750E-4B59-99DF-2A702DB02F32}"/>
              </a:ext>
            </a:extLst>
          </p:cNvPr>
          <p:cNvSpPr>
            <a:spLocks noGrp="1"/>
          </p:cNvSpPr>
          <p:nvPr/>
        </p:nvSpPr>
        <p:spPr>
          <a:xfrm>
            <a:off x="8982075" y="3019425"/>
            <a:ext cx="25241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다음 샘플링까지</a:t>
            </a:r>
          </a:p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시간이 더 생김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017DFE-D89D-4C5F-94B8-D54F8CAB9776}"/>
              </a:ext>
            </a:extLst>
          </p:cNvPr>
          <p:cNvSpPr>
            <a:spLocks noGrp="1"/>
          </p:cNvSpPr>
          <p:nvPr/>
        </p:nvSpPr>
        <p:spPr>
          <a:xfrm>
            <a:off x="8982075" y="4105275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Hold에는 불리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EBC953-E9DE-46FB-A928-353E1360D236}"/>
              </a:ext>
            </a:extLst>
          </p:cNvPr>
          <p:cNvSpPr>
            <a:spLocks noGrp="1"/>
          </p:cNvSpPr>
          <p:nvPr/>
        </p:nvSpPr>
        <p:spPr>
          <a:xfrm>
            <a:off x="8982075" y="4533900"/>
            <a:ext cx="25241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기존 데이터 유지</a:t>
            </a:r>
          </a:p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요구 시간이 늘어남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237B28-AF94-4D77-9D49-AA582CA44F88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동일 주기 레지스터 경로의 단순 예 · Skew의 부호에 따라 Setup/Hold 영향이 반대</a:t>
            </a:r>
          </a:p>
        </p:txBody>
      </p:sp>
    </p:spTree>
    <p:extLst>
      <p:ext uri="{BB962C8B-B14F-4D97-AF65-F5344CB8AC3E}">
        <p14:creationId xmlns:p14="http://schemas.microsoft.com/office/powerpoint/2010/main" val="125355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53" y="2941006"/>
            <a:ext cx="6544588" cy="258163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EF7A7B-5EE1-4981-A898-48AB605CD3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기술 Summary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F9DF16-D0FB-4149-8EB2-EEE537BED9B1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Metastability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A6B3B4-3E64-4E48-BF21-6B767FC61D3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4DF6DA-DB36-4479-AD57-8E27326BD2F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DA751D-3192-44E9-A3D7-8DA822B76051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3BDEC4-F7B4-4B1A-8EEC-8D85F3FA513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538A34-EEFA-4D9B-A0F1-8E02D0A6E614}"/>
              </a:ext>
            </a:extLst>
          </p:cNvPr>
          <p:cNvSpPr>
            <a:spLocks noGrp="1"/>
          </p:cNvSpPr>
          <p:nvPr/>
        </p:nvSpPr>
        <p:spPr>
          <a:xfrm>
            <a:off x="685800" y="1785258"/>
            <a:ext cx="10722429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비동기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입력은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클록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에지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근처에서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dirty="0" smtClean="0"/>
              <a:t>변할</a:t>
            </a:r>
            <a:r>
              <a:rPr lang="ko-KR" altLang="en-US" dirty="0"/>
              <a:t> </a:t>
            </a:r>
            <a:r>
              <a:rPr lang="ko-KR" altLang="en-US" dirty="0" smtClean="0"/>
              <a:t>가능성</a:t>
            </a:r>
            <a:r>
              <a:rPr lang="ko-KR" altLang="en-US" dirty="0"/>
              <a:t> </a:t>
            </a:r>
            <a:r>
              <a:rPr lang="ko-KR" altLang="en-US" dirty="0" smtClean="0"/>
              <a:t>나포</a:t>
            </a:r>
            <a:endParaRPr sz="21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83C7A4-FF8D-437E-B7C2-3248B674C5A0}"/>
              </a:ext>
            </a:extLst>
          </p:cNvPr>
          <p:cNvSpPr>
            <a:spLocks noGrp="1"/>
          </p:cNvSpPr>
          <p:nvPr/>
        </p:nvSpPr>
        <p:spPr>
          <a:xfrm>
            <a:off x="729342" y="23014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발생</a:t>
            </a: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sz="180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FCFDE3-DEC0-4915-97F5-34E7A34E3FFF}"/>
              </a:ext>
            </a:extLst>
          </p:cNvPr>
          <p:cNvSpPr>
            <a:spLocks noGrp="1"/>
          </p:cNvSpPr>
          <p:nvPr/>
        </p:nvSpPr>
        <p:spPr>
          <a:xfrm>
            <a:off x="1852611" y="2269701"/>
            <a:ext cx="4693104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입력이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Setup / Hold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조건을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위반</a:t>
            </a:r>
            <a:r>
              <a:rPr lang="ko-KR" altLang="en-US" dirty="0"/>
              <a:t> </a:t>
            </a:r>
            <a:r>
              <a:rPr lang="ko-KR" altLang="en-US" dirty="0" smtClean="0"/>
              <a:t>시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플립플롭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출력의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안정화가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지연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DE9500-84E5-43D1-BE91-FDA569892D2E}"/>
              </a:ext>
            </a:extLst>
          </p:cNvPr>
          <p:cNvSpPr>
            <a:spLocks noGrp="1"/>
          </p:cNvSpPr>
          <p:nvPr/>
        </p:nvSpPr>
        <p:spPr>
          <a:xfrm>
            <a:off x="1918832" y="5324475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구조</a:t>
            </a:r>
            <a:endParaRPr sz="165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E1656D-ABDF-4668-9A8E-E883A0BF14F7}"/>
              </a:ext>
            </a:extLst>
          </p:cNvPr>
          <p:cNvSpPr>
            <a:spLocks noGrp="1"/>
          </p:cNvSpPr>
          <p:nvPr/>
        </p:nvSpPr>
        <p:spPr>
          <a:xfrm>
            <a:off x="3442832" y="5343525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</a:t>
            </a:r>
          </a:p>
        </p:txBody>
      </p:sp>
      <p:sp>
        <p:nvSpPr>
          <p:cNvPr id="20" name="오른쪽 화살표 19">
            <a:extLst>
              <a:ext uri="{FF2B5EF4-FFF2-40B4-BE49-F238E27FC236}">
                <a16:creationId xmlns:a16="http://schemas.microsoft.com/office/drawing/2014/main" id="{8D5484BA-EDF1-45AF-B197-EE147E432F91}"/>
              </a:ext>
            </a:extLst>
          </p:cNvPr>
          <p:cNvSpPr>
            <a:spLocks noGrp="1"/>
          </p:cNvSpPr>
          <p:nvPr/>
        </p:nvSpPr>
        <p:spPr>
          <a:xfrm>
            <a:off x="4281032" y="5419725"/>
            <a:ext cx="4095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EEDAE0-F2B4-406F-898D-5037E80140C9}"/>
              </a:ext>
            </a:extLst>
          </p:cNvPr>
          <p:cNvSpPr>
            <a:spLocks noGrp="1"/>
          </p:cNvSpPr>
          <p:nvPr/>
        </p:nvSpPr>
        <p:spPr>
          <a:xfrm>
            <a:off x="4823957" y="5133975"/>
            <a:ext cx="914400" cy="695325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25688F-7147-4BCD-A26E-F130D40A1224}"/>
              </a:ext>
            </a:extLst>
          </p:cNvPr>
          <p:cNvSpPr>
            <a:spLocks noGrp="1"/>
          </p:cNvSpPr>
          <p:nvPr/>
        </p:nvSpPr>
        <p:spPr>
          <a:xfrm>
            <a:off x="5004932" y="533400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23" name="오른쪽 화살표 22">
            <a:extLst>
              <a:ext uri="{FF2B5EF4-FFF2-40B4-BE49-F238E27FC236}">
                <a16:creationId xmlns:a16="http://schemas.microsoft.com/office/drawing/2014/main" id="{A45549B7-2642-432A-9B7C-CBF6A2D18D72}"/>
              </a:ext>
            </a:extLst>
          </p:cNvPr>
          <p:cNvSpPr>
            <a:spLocks noGrp="1"/>
          </p:cNvSpPr>
          <p:nvPr/>
        </p:nvSpPr>
        <p:spPr>
          <a:xfrm>
            <a:off x="5824082" y="5419725"/>
            <a:ext cx="3238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6F4BB3-4857-491F-80EA-7C3EC0C63B4C}"/>
              </a:ext>
            </a:extLst>
          </p:cNvPr>
          <p:cNvSpPr>
            <a:spLocks noGrp="1"/>
          </p:cNvSpPr>
          <p:nvPr/>
        </p:nvSpPr>
        <p:spPr>
          <a:xfrm>
            <a:off x="6243182" y="5133975"/>
            <a:ext cx="914400" cy="695325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6133D3E-9ED5-4BFC-9D4A-8409035795FC}"/>
              </a:ext>
            </a:extLst>
          </p:cNvPr>
          <p:cNvSpPr>
            <a:spLocks noGrp="1"/>
          </p:cNvSpPr>
          <p:nvPr/>
        </p:nvSpPr>
        <p:spPr>
          <a:xfrm>
            <a:off x="6424157" y="533400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26" name="오른쪽 화살표 25">
            <a:extLst>
              <a:ext uri="{FF2B5EF4-FFF2-40B4-BE49-F238E27FC236}">
                <a16:creationId xmlns:a16="http://schemas.microsoft.com/office/drawing/2014/main" id="{AF818E80-AAB0-4C21-A58F-A13517AD53ED}"/>
              </a:ext>
            </a:extLst>
          </p:cNvPr>
          <p:cNvSpPr>
            <a:spLocks noGrp="1"/>
          </p:cNvSpPr>
          <p:nvPr/>
        </p:nvSpPr>
        <p:spPr>
          <a:xfrm>
            <a:off x="7271882" y="5419725"/>
            <a:ext cx="3238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8F892F-7CC9-4E56-95C2-B43992B387B3}"/>
              </a:ext>
            </a:extLst>
          </p:cNvPr>
          <p:cNvSpPr>
            <a:spLocks noGrp="1"/>
          </p:cNvSpPr>
          <p:nvPr/>
        </p:nvSpPr>
        <p:spPr>
          <a:xfrm>
            <a:off x="7748132" y="5334000"/>
            <a:ext cx="1990271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디바운서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→ FSM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40AE6-4FE2-4E33-AC88-D87008E10078}"/>
              </a:ext>
            </a:extLst>
          </p:cNvPr>
          <p:cNvSpPr>
            <a:spLocks noGrp="1"/>
          </p:cNvSpPr>
          <p:nvPr/>
        </p:nvSpPr>
        <p:spPr>
          <a:xfrm>
            <a:off x="4823957" y="5905500"/>
            <a:ext cx="24479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동일한 시스템 클록으로 동작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0AD3AA-7284-433D-8A91-395E4C581039}"/>
              </a:ext>
            </a:extLst>
          </p:cNvPr>
          <p:cNvSpPr>
            <a:spLocks noGrp="1"/>
          </p:cNvSpPr>
          <p:nvPr/>
        </p:nvSpPr>
        <p:spPr>
          <a:xfrm>
            <a:off x="7991022" y="2361397"/>
            <a:ext cx="3143250" cy="9525"/>
          </a:xfrm>
          <a:prstGeom prst="rect">
            <a:avLst/>
          </a:prstGeom>
          <a:solidFill>
            <a:srgbClr val="254D78"/>
          </a:solidFill>
          <a:ln w="14288">
            <a:solidFill>
              <a:srgbClr val="254D78"/>
            </a:solidFill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5677108-C41B-4814-AAE3-0BF3E77E37A2}"/>
              </a:ext>
            </a:extLst>
          </p:cNvPr>
          <p:cNvSpPr>
            <a:spLocks noGrp="1"/>
          </p:cNvSpPr>
          <p:nvPr/>
        </p:nvSpPr>
        <p:spPr>
          <a:xfrm>
            <a:off x="7991022" y="2580472"/>
            <a:ext cx="3181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2단 동기화 회로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43A392E-17BB-4830-82E4-FBE48186073A}"/>
              </a:ext>
            </a:extLst>
          </p:cNvPr>
          <p:cNvSpPr>
            <a:spLocks noGrp="1"/>
          </p:cNvSpPr>
          <p:nvPr/>
        </p:nvSpPr>
        <p:spPr>
          <a:xfrm>
            <a:off x="7991022" y="3123397"/>
            <a:ext cx="318135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첫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번째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FF의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출력이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안정화될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전파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확률을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dirty="0" smtClean="0"/>
              <a:t>낮춤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100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99E2FE-B94B-46AE-A9D3-5762B8CAB1C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개념·원인·문제점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619BB4-C856-4093-B9A9-C58B99AE98C5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Metastability: 비동기 버튼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502241-A4F5-4EC8-A172-83CD27E9D87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3A8D83-19C6-48F6-9890-53224C35481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298053-C7E7-4BFD-8FB6-70DE806E7FB5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39B86E-71EC-4C40-B32E-C516C32EB68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2E1A40-80AE-429A-8F35-ADD5FDA8C1DC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샘플링 조건 위반으로 출력의 0 또는 1 확정이 지연되는 현상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882922-3F30-4FB0-8288-74819B1C8889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비동기 </a:t>
            </a:r>
            <a:r>
              <a:rPr sz="2025" b="1" dirty="0" err="1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버튼은</a:t>
            </a:r>
            <a:r>
              <a:rPr sz="20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FPGA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클록과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무관하게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0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변화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0F1EB7-B472-4DF6-86A4-50973B76FB7C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0F340D9-B66F-47E8-B23E-F55BFA6980AD}"/>
              </a:ext>
            </a:extLst>
          </p:cNvPr>
          <p:cNvSpPr>
            <a:spLocks noGrp="1"/>
          </p:cNvSpPr>
          <p:nvPr/>
        </p:nvSpPr>
        <p:spPr>
          <a:xfrm>
            <a:off x="2000250" y="3543300"/>
            <a:ext cx="11430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D369215-D080-4ABC-B2E0-5E8BD38D6B32}"/>
              </a:ext>
            </a:extLst>
          </p:cNvPr>
          <p:cNvSpPr>
            <a:spLocks noGrp="1"/>
          </p:cNvSpPr>
          <p:nvPr/>
        </p:nvSpPr>
        <p:spPr>
          <a:xfrm flipV="1">
            <a:off x="314325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27CED9F4-F13F-46DC-9B12-01F2B87EB97E}"/>
              </a:ext>
            </a:extLst>
          </p:cNvPr>
          <p:cNvSpPr>
            <a:spLocks noGrp="1"/>
          </p:cNvSpPr>
          <p:nvPr/>
        </p:nvSpPr>
        <p:spPr>
          <a:xfrm>
            <a:off x="3143250" y="321945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80426B7F-BD44-4C55-A410-73E424F7FA20}"/>
              </a:ext>
            </a:extLst>
          </p:cNvPr>
          <p:cNvSpPr>
            <a:spLocks noGrp="1"/>
          </p:cNvSpPr>
          <p:nvPr/>
        </p:nvSpPr>
        <p:spPr>
          <a:xfrm>
            <a:off x="419100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006DCF9-4BF7-446A-BBF6-DB072217FC2D}"/>
              </a:ext>
            </a:extLst>
          </p:cNvPr>
          <p:cNvSpPr>
            <a:spLocks noGrp="1"/>
          </p:cNvSpPr>
          <p:nvPr/>
        </p:nvSpPr>
        <p:spPr>
          <a:xfrm>
            <a:off x="4191000" y="354330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A0D7C58-126C-4F70-9827-AE340AB64BAB}"/>
              </a:ext>
            </a:extLst>
          </p:cNvPr>
          <p:cNvSpPr>
            <a:spLocks noGrp="1"/>
          </p:cNvSpPr>
          <p:nvPr/>
        </p:nvSpPr>
        <p:spPr>
          <a:xfrm flipV="1">
            <a:off x="523875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97EEECCF-758F-4E82-9684-C280672D9DC0}"/>
              </a:ext>
            </a:extLst>
          </p:cNvPr>
          <p:cNvSpPr>
            <a:spLocks noGrp="1"/>
          </p:cNvSpPr>
          <p:nvPr/>
        </p:nvSpPr>
        <p:spPr>
          <a:xfrm>
            <a:off x="5238750" y="321945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8B62BFE3-10B6-408B-AA1A-F614F0500ECD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CC6196E-53F1-44C6-AD3D-FA5B94863717}"/>
              </a:ext>
            </a:extLst>
          </p:cNvPr>
          <p:cNvSpPr>
            <a:spLocks noGrp="1"/>
          </p:cNvSpPr>
          <p:nvPr/>
        </p:nvSpPr>
        <p:spPr>
          <a:xfrm>
            <a:off x="6286500" y="354330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725625CF-61E4-4662-B06F-1B8E4A89084E}"/>
              </a:ext>
            </a:extLst>
          </p:cNvPr>
          <p:cNvSpPr>
            <a:spLocks noGrp="1"/>
          </p:cNvSpPr>
          <p:nvPr/>
        </p:nvSpPr>
        <p:spPr>
          <a:xfrm flipV="1">
            <a:off x="733425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D1BEA2CE-077F-49AE-A28E-B5F53AD12287}"/>
              </a:ext>
            </a:extLst>
          </p:cNvPr>
          <p:cNvSpPr>
            <a:spLocks noGrp="1"/>
          </p:cNvSpPr>
          <p:nvPr/>
        </p:nvSpPr>
        <p:spPr>
          <a:xfrm>
            <a:off x="7334250" y="321945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31D89A2-F9EB-4E36-9CA7-5C74E20B36D1}"/>
              </a:ext>
            </a:extLst>
          </p:cNvPr>
          <p:cNvSpPr>
            <a:spLocks noGrp="1"/>
          </p:cNvSpPr>
          <p:nvPr/>
        </p:nvSpPr>
        <p:spPr>
          <a:xfrm>
            <a:off x="838200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10222D41-BBB4-4422-A41B-4CA13123A66B}"/>
              </a:ext>
            </a:extLst>
          </p:cNvPr>
          <p:cNvSpPr>
            <a:spLocks noGrp="1"/>
          </p:cNvSpPr>
          <p:nvPr/>
        </p:nvSpPr>
        <p:spPr>
          <a:xfrm>
            <a:off x="8382000" y="354330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D5F7D6DE-9D6D-4C58-9ACD-4BEB17709912}"/>
              </a:ext>
            </a:extLst>
          </p:cNvPr>
          <p:cNvSpPr>
            <a:spLocks noGrp="1"/>
          </p:cNvSpPr>
          <p:nvPr/>
        </p:nvSpPr>
        <p:spPr>
          <a:xfrm flipV="1">
            <a:off x="942975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355B6FFE-4E7C-4FD8-A5BA-5AB4EA81AE8A}"/>
              </a:ext>
            </a:extLst>
          </p:cNvPr>
          <p:cNvSpPr>
            <a:spLocks noGrp="1"/>
          </p:cNvSpPr>
          <p:nvPr/>
        </p:nvSpPr>
        <p:spPr>
          <a:xfrm>
            <a:off x="9429750" y="321945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FCE3BB32-E62B-49F8-8465-279149893ED3}"/>
              </a:ext>
            </a:extLst>
          </p:cNvPr>
          <p:cNvSpPr>
            <a:spLocks noGrp="1"/>
          </p:cNvSpPr>
          <p:nvPr/>
        </p:nvSpPr>
        <p:spPr>
          <a:xfrm>
            <a:off x="1047750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F70387F8-6C75-45E2-AE8E-7D211A9C3501}"/>
              </a:ext>
            </a:extLst>
          </p:cNvPr>
          <p:cNvSpPr>
            <a:spLocks noGrp="1"/>
          </p:cNvSpPr>
          <p:nvPr/>
        </p:nvSpPr>
        <p:spPr>
          <a:xfrm>
            <a:off x="10477500" y="3543300"/>
            <a:ext cx="857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48E7D90-EB97-4A4E-95BC-561CEDBF726C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285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BUTTON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27BFF55F-7C7C-4961-B7C9-A5351F3BCC94}"/>
              </a:ext>
            </a:extLst>
          </p:cNvPr>
          <p:cNvSpPr>
            <a:spLocks noGrp="1"/>
          </p:cNvSpPr>
          <p:nvPr/>
        </p:nvSpPr>
        <p:spPr>
          <a:xfrm>
            <a:off x="2000250" y="4419600"/>
            <a:ext cx="32099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2E03D1B3-12AB-4409-B060-9724548D1E2E}"/>
              </a:ext>
            </a:extLst>
          </p:cNvPr>
          <p:cNvSpPr>
            <a:spLocks noGrp="1"/>
          </p:cNvSpPr>
          <p:nvPr/>
        </p:nvSpPr>
        <p:spPr>
          <a:xfrm flipV="1">
            <a:off x="5210175" y="40957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CB178693-22F3-425C-BDA4-C7B99E796289}"/>
              </a:ext>
            </a:extLst>
          </p:cNvPr>
          <p:cNvSpPr>
            <a:spLocks noGrp="1"/>
          </p:cNvSpPr>
          <p:nvPr/>
        </p:nvSpPr>
        <p:spPr>
          <a:xfrm>
            <a:off x="5210175" y="4095750"/>
            <a:ext cx="61245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E235A2D5-09BD-4DAC-ABDC-11F1711A4DF2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953" cy="1724025"/>
          </a:xfrm>
          <a:prstGeom prst="line">
            <a:avLst/>
          </a:prstGeom>
          <a:noFill/>
          <a:ln w="14288">
            <a:solidFill>
              <a:srgbClr val="8DA3BC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084ABC5-1B22-4416-953B-D974B782B872}"/>
              </a:ext>
            </a:extLst>
          </p:cNvPr>
          <p:cNvSpPr>
            <a:spLocks noGrp="1"/>
          </p:cNvSpPr>
          <p:nvPr/>
        </p:nvSpPr>
        <p:spPr>
          <a:xfrm>
            <a:off x="3943350" y="4810125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에지 근처의 입력 변화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DF337D-DD0F-49AE-AF61-F13F9B591C38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CFEC8F-1CC9-4B74-92DB-2E27A70FF2ED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원인: 비동기 입력·서로 다른 클록 영역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305E5E1-61BD-4B0F-ACD7-86E9311712E7}"/>
              </a:ext>
            </a:extLst>
          </p:cNvPr>
          <p:cNvSpPr>
            <a:spLocks noGrp="1"/>
          </p:cNvSpPr>
          <p:nvPr/>
        </p:nvSpPr>
        <p:spPr>
          <a:xfrm>
            <a:off x="7219950" y="5524500"/>
            <a:ext cx="4286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문제점: 상태 전환 오류·값의 불일치</a:t>
            </a:r>
          </a:p>
        </p:txBody>
      </p:sp>
    </p:spTree>
    <p:extLst>
      <p:ext uri="{BB962C8B-B14F-4D97-AF65-F5344CB8AC3E}">
        <p14:creationId xmlns:p14="http://schemas.microsoft.com/office/powerpoint/2010/main" val="321565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B056FC-B685-417C-AA9B-E87F681D8A1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개념·문제점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CA57D2-1C77-47F5-9CC6-D4607572B306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Metastability: FF 출력의 안정화 지연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D429DC-8567-4B8A-85B9-ACE8F31BE58F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09B31F-A3DB-4D99-BCE3-A380F4AA8E4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8EFFF0-13BC-4819-84B5-29F2995C0FA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0578E3-6F4E-4D76-8D96-BE50902E91C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C059A3-7E7A-4192-B206-962CD0F3F05F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개념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FF도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전압으로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동작하므로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0/1 </a:t>
            </a:r>
            <a:r>
              <a:rPr sz="21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판단</a:t>
            </a:r>
            <a:r>
              <a:rPr lang="en-US" sz="21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지연 발생 가능</a:t>
            </a:r>
            <a:endParaRPr sz="21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E1A3EF-4B6C-4DCC-8E8A-E51D622A7B7A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47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정상 출력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964996-A843-44A4-9BB8-514B3488FD2E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지연된 출력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655E1460-AFC8-4DE0-AD56-16393FF6490A}"/>
              </a:ext>
            </a:extLst>
          </p:cNvPr>
          <p:cNvSpPr>
            <a:spLocks noGrp="1"/>
          </p:cNvSpPr>
          <p:nvPr/>
        </p:nvSpPr>
        <p:spPr>
          <a:xfrm>
            <a:off x="2400300" y="2933700"/>
            <a:ext cx="9086850" cy="953"/>
          </a:xfrm>
          <a:prstGeom prst="line">
            <a:avLst/>
          </a:prstGeom>
          <a:noFill/>
          <a:ln w="9525">
            <a:solidFill>
              <a:srgbClr val="DFE7EF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68564A58-A32D-48F4-833A-A7CB92025053}"/>
              </a:ext>
            </a:extLst>
          </p:cNvPr>
          <p:cNvSpPr>
            <a:spLocks noGrp="1"/>
          </p:cNvSpPr>
          <p:nvPr/>
        </p:nvSpPr>
        <p:spPr>
          <a:xfrm>
            <a:off x="2400300" y="3457575"/>
            <a:ext cx="9086850" cy="953"/>
          </a:xfrm>
          <a:prstGeom prst="line">
            <a:avLst/>
          </a:prstGeom>
          <a:noFill/>
          <a:ln w="9525">
            <a:solidFill>
              <a:srgbClr val="DFE7EF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822131-8DF4-4F43-8447-D750E72BC0C8}"/>
              </a:ext>
            </a:extLst>
          </p:cNvPr>
          <p:cNvSpPr>
            <a:spLocks noGrp="1"/>
          </p:cNvSpPr>
          <p:nvPr/>
        </p:nvSpPr>
        <p:spPr>
          <a:xfrm>
            <a:off x="2095500" y="2819400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28201F-5A4F-4FA0-9CC2-B8BF006F8141}"/>
              </a:ext>
            </a:extLst>
          </p:cNvPr>
          <p:cNvSpPr>
            <a:spLocks noGrp="1"/>
          </p:cNvSpPr>
          <p:nvPr/>
        </p:nvSpPr>
        <p:spPr>
          <a:xfrm>
            <a:off x="2095500" y="3343275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E681C396-0135-47A3-9A0C-242765DD664B}"/>
              </a:ext>
            </a:extLst>
          </p:cNvPr>
          <p:cNvSpPr>
            <a:spLocks noGrp="1"/>
          </p:cNvSpPr>
          <p:nvPr/>
        </p:nvSpPr>
        <p:spPr>
          <a:xfrm>
            <a:off x="2400300" y="4248150"/>
            <a:ext cx="9086850" cy="953"/>
          </a:xfrm>
          <a:prstGeom prst="line">
            <a:avLst/>
          </a:prstGeom>
          <a:noFill/>
          <a:ln w="9525">
            <a:solidFill>
              <a:srgbClr val="DFE7EF"/>
            </a:solidFill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068AD83-34B2-4DBC-9C71-DDB88F890D7E}"/>
              </a:ext>
            </a:extLst>
          </p:cNvPr>
          <p:cNvSpPr>
            <a:spLocks noGrp="1"/>
          </p:cNvSpPr>
          <p:nvPr/>
        </p:nvSpPr>
        <p:spPr>
          <a:xfrm>
            <a:off x="2400300" y="4772025"/>
            <a:ext cx="9086850" cy="953"/>
          </a:xfrm>
          <a:prstGeom prst="line">
            <a:avLst/>
          </a:prstGeom>
          <a:noFill/>
          <a:ln w="9525">
            <a:solidFill>
              <a:srgbClr val="DFE7EF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95EEF4-5A19-4F12-B870-471C45CDFADC}"/>
              </a:ext>
            </a:extLst>
          </p:cNvPr>
          <p:cNvSpPr>
            <a:spLocks noGrp="1"/>
          </p:cNvSpPr>
          <p:nvPr/>
        </p:nvSpPr>
        <p:spPr>
          <a:xfrm>
            <a:off x="2095500" y="4133850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0AE32D-70B0-4B24-B1C1-1D04AE5BFD0B}"/>
              </a:ext>
            </a:extLst>
          </p:cNvPr>
          <p:cNvSpPr>
            <a:spLocks noGrp="1"/>
          </p:cNvSpPr>
          <p:nvPr/>
        </p:nvSpPr>
        <p:spPr>
          <a:xfrm>
            <a:off x="2095500" y="4657725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FAF2C7A4-0F1A-49AA-AC06-E65EC355BC94}"/>
              </a:ext>
            </a:extLst>
          </p:cNvPr>
          <p:cNvSpPr>
            <a:spLocks noGrp="1"/>
          </p:cNvSpPr>
          <p:nvPr/>
        </p:nvSpPr>
        <p:spPr>
          <a:xfrm>
            <a:off x="2400300" y="3457575"/>
            <a:ext cx="1333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8B8D81C-E334-4435-9065-0535C8E3D001}"/>
              </a:ext>
            </a:extLst>
          </p:cNvPr>
          <p:cNvSpPr>
            <a:spLocks noGrp="1"/>
          </p:cNvSpPr>
          <p:nvPr/>
        </p:nvSpPr>
        <p:spPr>
          <a:xfrm flipV="1">
            <a:off x="3733800" y="2933700"/>
            <a:ext cx="238125" cy="5238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0360B1BA-E432-4B47-9882-981850B926DD}"/>
              </a:ext>
            </a:extLst>
          </p:cNvPr>
          <p:cNvSpPr>
            <a:spLocks noGrp="1"/>
          </p:cNvSpPr>
          <p:nvPr/>
        </p:nvSpPr>
        <p:spPr>
          <a:xfrm>
            <a:off x="3971925" y="2933700"/>
            <a:ext cx="75152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897692A7-C3BE-4557-942E-0275F1130E92}"/>
              </a:ext>
            </a:extLst>
          </p:cNvPr>
          <p:cNvSpPr>
            <a:spLocks noGrp="1"/>
          </p:cNvSpPr>
          <p:nvPr/>
        </p:nvSpPr>
        <p:spPr>
          <a:xfrm>
            <a:off x="2400300" y="4772025"/>
            <a:ext cx="1333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38F74DC1-3FC6-49B8-AAAE-1164BFBA357D}"/>
              </a:ext>
            </a:extLst>
          </p:cNvPr>
          <p:cNvSpPr>
            <a:spLocks noGrp="1"/>
          </p:cNvSpPr>
          <p:nvPr/>
        </p:nvSpPr>
        <p:spPr>
          <a:xfrm flipV="1">
            <a:off x="3733800" y="4514850"/>
            <a:ext cx="219075" cy="2571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072E81AE-0A80-4A2A-9318-3546EE1C84F1}"/>
              </a:ext>
            </a:extLst>
          </p:cNvPr>
          <p:cNvSpPr>
            <a:spLocks noGrp="1"/>
          </p:cNvSpPr>
          <p:nvPr/>
        </p:nvSpPr>
        <p:spPr>
          <a:xfrm>
            <a:off x="3952875" y="4514850"/>
            <a:ext cx="590550" cy="285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996D2C26-F3D0-465F-9754-BA6CB1E623C6}"/>
              </a:ext>
            </a:extLst>
          </p:cNvPr>
          <p:cNvSpPr>
            <a:spLocks noGrp="1"/>
          </p:cNvSpPr>
          <p:nvPr/>
        </p:nvSpPr>
        <p:spPr>
          <a:xfrm flipV="1">
            <a:off x="4543425" y="4476750"/>
            <a:ext cx="552450" cy="666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6B3AACAF-D8E9-4524-BB04-502454BD8BCB}"/>
              </a:ext>
            </a:extLst>
          </p:cNvPr>
          <p:cNvSpPr>
            <a:spLocks noGrp="1"/>
          </p:cNvSpPr>
          <p:nvPr/>
        </p:nvSpPr>
        <p:spPr>
          <a:xfrm>
            <a:off x="5095875" y="4476750"/>
            <a:ext cx="542925" cy="571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B4A9EAE3-DAB7-4524-AF0B-BD2F71957FA3}"/>
              </a:ext>
            </a:extLst>
          </p:cNvPr>
          <p:cNvSpPr>
            <a:spLocks noGrp="1"/>
          </p:cNvSpPr>
          <p:nvPr/>
        </p:nvSpPr>
        <p:spPr>
          <a:xfrm flipV="1">
            <a:off x="5638800" y="4505325"/>
            <a:ext cx="714375" cy="285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2A4FBBB5-F981-4923-A501-7E8AAC131B9C}"/>
              </a:ext>
            </a:extLst>
          </p:cNvPr>
          <p:cNvSpPr>
            <a:spLocks noGrp="1"/>
          </p:cNvSpPr>
          <p:nvPr/>
        </p:nvSpPr>
        <p:spPr>
          <a:xfrm flipV="1">
            <a:off x="6353175" y="4495800"/>
            <a:ext cx="476250" cy="95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83081C20-0CED-416C-8791-81A382EF4F2E}"/>
              </a:ext>
            </a:extLst>
          </p:cNvPr>
          <p:cNvSpPr>
            <a:spLocks noGrp="1"/>
          </p:cNvSpPr>
          <p:nvPr/>
        </p:nvSpPr>
        <p:spPr>
          <a:xfrm flipV="1">
            <a:off x="6829425" y="4267200"/>
            <a:ext cx="257175" cy="2286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64C04ACB-3142-40E2-9250-B6193846C596}"/>
              </a:ext>
            </a:extLst>
          </p:cNvPr>
          <p:cNvSpPr>
            <a:spLocks noGrp="1"/>
          </p:cNvSpPr>
          <p:nvPr/>
        </p:nvSpPr>
        <p:spPr>
          <a:xfrm flipV="1">
            <a:off x="7086600" y="4248150"/>
            <a:ext cx="219075" cy="190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B4AFBE35-1658-460B-B8D5-3D1810F9C6E7}"/>
              </a:ext>
            </a:extLst>
          </p:cNvPr>
          <p:cNvSpPr>
            <a:spLocks noGrp="1"/>
          </p:cNvSpPr>
          <p:nvPr/>
        </p:nvSpPr>
        <p:spPr>
          <a:xfrm>
            <a:off x="7305675" y="4248150"/>
            <a:ext cx="41814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21D78C6C-3ABC-4B6A-A07D-0C802CD131A1}"/>
              </a:ext>
            </a:extLst>
          </p:cNvPr>
          <p:cNvSpPr>
            <a:spLocks noGrp="1"/>
          </p:cNvSpPr>
          <p:nvPr/>
        </p:nvSpPr>
        <p:spPr>
          <a:xfrm>
            <a:off x="3733800" y="2705100"/>
            <a:ext cx="953" cy="2352675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ED5944B-B411-4EF8-964B-CD5D284E75BE}"/>
              </a:ext>
            </a:extLst>
          </p:cNvPr>
          <p:cNvSpPr>
            <a:spLocks noGrp="1"/>
          </p:cNvSpPr>
          <p:nvPr/>
        </p:nvSpPr>
        <p:spPr>
          <a:xfrm>
            <a:off x="2867025" y="5248275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샘플링 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3DD644-62AA-4AB8-82BF-696E5850E820}"/>
              </a:ext>
            </a:extLst>
          </p:cNvPr>
          <p:cNvSpPr>
            <a:spLocks noGrp="1"/>
          </p:cNvSpPr>
          <p:nvPr/>
        </p:nvSpPr>
        <p:spPr>
          <a:xfrm>
            <a:off x="5238750" y="5248275"/>
            <a:ext cx="5524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0/1 확정까지 시간이 더 필요</a:t>
            </a:r>
          </a:p>
        </p:txBody>
      </p:sp>
    </p:spTree>
    <p:extLst>
      <p:ext uri="{BB962C8B-B14F-4D97-AF65-F5344CB8AC3E}">
        <p14:creationId xmlns:p14="http://schemas.microsoft.com/office/powerpoint/2010/main" val="320742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2672D1C9-5078-4564-964B-029E06A4D9C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11331F-6C72-4744-AEC1-E212ED4AB27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2FF 동기화: 안정화 시간을 확보하는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10BB7A-9CDC-4EAD-A124-3665F1EDD0E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64B689-A8BA-4A75-884B-71A3B5655AE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A9E896-73C1-412D-9CD3-24663840223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321C70-FE1B-48E4-8245-95E2FB0580E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136C95-D75E-48E9-99FA-E3E898AFE1B2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해결 방법 · FF2는 다음 클록 에지에서 FF1의 출력을 샘플링합니다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A305E9-8BFE-4E2F-B844-1F2E826E2913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57B1555D-1E30-4A4D-B7F1-3B6DD6A2C498}"/>
              </a:ext>
            </a:extLst>
          </p:cNvPr>
          <p:cNvSpPr>
            <a:spLocks noGrp="1"/>
          </p:cNvSpPr>
          <p:nvPr/>
        </p:nvSpPr>
        <p:spPr>
          <a:xfrm>
            <a:off x="2095500" y="2809875"/>
            <a:ext cx="1714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60E66BD8-3728-4C97-9F51-6B82501464EA}"/>
              </a:ext>
            </a:extLst>
          </p:cNvPr>
          <p:cNvSpPr>
            <a:spLocks noGrp="1"/>
          </p:cNvSpPr>
          <p:nvPr/>
        </p:nvSpPr>
        <p:spPr>
          <a:xfrm flipV="1">
            <a:off x="3810000" y="2571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0FC0CE6D-1A5D-47CC-A605-4541F28CA5BC}"/>
              </a:ext>
            </a:extLst>
          </p:cNvPr>
          <p:cNvSpPr>
            <a:spLocks noGrp="1"/>
          </p:cNvSpPr>
          <p:nvPr/>
        </p:nvSpPr>
        <p:spPr>
          <a:xfrm>
            <a:off x="3810000" y="2571750"/>
            <a:ext cx="1619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FE78020-9229-4DDB-88ED-E774B77B2143}"/>
              </a:ext>
            </a:extLst>
          </p:cNvPr>
          <p:cNvSpPr>
            <a:spLocks noGrp="1"/>
          </p:cNvSpPr>
          <p:nvPr/>
        </p:nvSpPr>
        <p:spPr>
          <a:xfrm>
            <a:off x="5429250" y="2571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A9C94F8B-5A6A-4398-8AD8-3FC31540F65F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190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92B76CBB-14EF-4711-976A-DC1F0E07B224}"/>
              </a:ext>
            </a:extLst>
          </p:cNvPr>
          <p:cNvSpPr>
            <a:spLocks noGrp="1"/>
          </p:cNvSpPr>
          <p:nvPr/>
        </p:nvSpPr>
        <p:spPr>
          <a:xfrm flipV="1">
            <a:off x="7620000" y="2571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A3C845-F5F7-442F-8B8C-6F3F7B9787AC}"/>
              </a:ext>
            </a:extLst>
          </p:cNvPr>
          <p:cNvSpPr>
            <a:spLocks noGrp="1"/>
          </p:cNvSpPr>
          <p:nvPr/>
        </p:nvSpPr>
        <p:spPr>
          <a:xfrm>
            <a:off x="7620000" y="2571750"/>
            <a:ext cx="1619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F9A42517-BBAD-4556-AD34-76B424277781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0AEA3EA4-556D-445E-A80D-671DA749325D}"/>
              </a:ext>
            </a:extLst>
          </p:cNvPr>
          <p:cNvSpPr>
            <a:spLocks noGrp="1"/>
          </p:cNvSpPr>
          <p:nvPr/>
        </p:nvSpPr>
        <p:spPr>
          <a:xfrm>
            <a:off x="9239250" y="2809875"/>
            <a:ext cx="2095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3D077D-B89D-405E-BC78-96C106A046A7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ASYNC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501B12C-43D7-4589-9B47-015B0F5E833E}"/>
              </a:ext>
            </a:extLst>
          </p:cNvPr>
          <p:cNvSpPr>
            <a:spLocks noGrp="1"/>
          </p:cNvSpPr>
          <p:nvPr/>
        </p:nvSpPr>
        <p:spPr>
          <a:xfrm>
            <a:off x="2095500" y="3571875"/>
            <a:ext cx="16764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61C2E35A-C50E-489E-80CD-C045CA1FDCC0}"/>
              </a:ext>
            </a:extLst>
          </p:cNvPr>
          <p:cNvSpPr>
            <a:spLocks noGrp="1"/>
          </p:cNvSpPr>
          <p:nvPr/>
        </p:nvSpPr>
        <p:spPr>
          <a:xfrm flipV="1">
            <a:off x="3771900" y="3333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D642A307-D7F5-4004-81EA-5556F625256E}"/>
              </a:ext>
            </a:extLst>
          </p:cNvPr>
          <p:cNvSpPr>
            <a:spLocks noGrp="1"/>
          </p:cNvSpPr>
          <p:nvPr/>
        </p:nvSpPr>
        <p:spPr>
          <a:xfrm>
            <a:off x="3771900" y="3333750"/>
            <a:ext cx="75628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881991-CCD9-4B78-BCC9-DCB6291012C1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 Q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46B4D90-3139-4CC4-A198-DDF109CF1203}"/>
              </a:ext>
            </a:extLst>
          </p:cNvPr>
          <p:cNvSpPr>
            <a:spLocks noGrp="1"/>
          </p:cNvSpPr>
          <p:nvPr/>
        </p:nvSpPr>
        <p:spPr>
          <a:xfrm>
            <a:off x="2095500" y="4333875"/>
            <a:ext cx="1714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8D0EDB4-40FA-444F-BE79-46D9898B35F0}"/>
              </a:ext>
            </a:extLst>
          </p:cNvPr>
          <p:cNvSpPr>
            <a:spLocks noGrp="1"/>
          </p:cNvSpPr>
          <p:nvPr/>
        </p:nvSpPr>
        <p:spPr>
          <a:xfrm flipV="1">
            <a:off x="3810000" y="4210050"/>
            <a:ext cx="123825" cy="1238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3F51E977-4FF8-4DDE-8812-5ACFF1394E06}"/>
              </a:ext>
            </a:extLst>
          </p:cNvPr>
          <p:cNvSpPr>
            <a:spLocks noGrp="1"/>
          </p:cNvSpPr>
          <p:nvPr/>
        </p:nvSpPr>
        <p:spPr>
          <a:xfrm>
            <a:off x="3933825" y="4210050"/>
            <a:ext cx="495300" cy="381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E9773DD-2EFB-4D28-9250-F36299352C51}"/>
              </a:ext>
            </a:extLst>
          </p:cNvPr>
          <p:cNvSpPr>
            <a:spLocks noGrp="1"/>
          </p:cNvSpPr>
          <p:nvPr/>
        </p:nvSpPr>
        <p:spPr>
          <a:xfrm flipV="1">
            <a:off x="4429125" y="4191000"/>
            <a:ext cx="381000" cy="571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4B125B21-1CD0-4C38-B39D-BF2CE5391F27}"/>
              </a:ext>
            </a:extLst>
          </p:cNvPr>
          <p:cNvSpPr>
            <a:spLocks noGrp="1"/>
          </p:cNvSpPr>
          <p:nvPr/>
        </p:nvSpPr>
        <p:spPr>
          <a:xfrm>
            <a:off x="4810125" y="4191000"/>
            <a:ext cx="428625" cy="381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31D07E34-B1E8-4C5E-8A13-B8C03639ABFF}"/>
              </a:ext>
            </a:extLst>
          </p:cNvPr>
          <p:cNvSpPr>
            <a:spLocks noGrp="1"/>
          </p:cNvSpPr>
          <p:nvPr/>
        </p:nvSpPr>
        <p:spPr>
          <a:xfrm flipV="1">
            <a:off x="5238750" y="4095750"/>
            <a:ext cx="476250" cy="1333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CA470CD-5CF3-478A-A6F9-1F8E257EAFA9}"/>
              </a:ext>
            </a:extLst>
          </p:cNvPr>
          <p:cNvSpPr>
            <a:spLocks noGrp="1"/>
          </p:cNvSpPr>
          <p:nvPr/>
        </p:nvSpPr>
        <p:spPr>
          <a:xfrm>
            <a:off x="5715000" y="4095750"/>
            <a:ext cx="5619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5F3DBC-5313-41C8-98B6-BF5C6A97E693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 Q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7CEF7F80-9AFE-4EAB-9A79-8E5135C9BC20}"/>
              </a:ext>
            </a:extLst>
          </p:cNvPr>
          <p:cNvSpPr>
            <a:spLocks noGrp="1"/>
          </p:cNvSpPr>
          <p:nvPr/>
        </p:nvSpPr>
        <p:spPr>
          <a:xfrm>
            <a:off x="2095500" y="5095875"/>
            <a:ext cx="56673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19755407-6A52-4695-9E21-44E18B792FCA}"/>
              </a:ext>
            </a:extLst>
          </p:cNvPr>
          <p:cNvSpPr>
            <a:spLocks noGrp="1"/>
          </p:cNvSpPr>
          <p:nvPr/>
        </p:nvSpPr>
        <p:spPr>
          <a:xfrm flipV="1">
            <a:off x="7762875" y="4857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023E7105-6D14-45F7-8CEE-45EADEB37528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35718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E42228CC-673E-4C04-857F-31E9A82A0063}"/>
              </a:ext>
            </a:extLst>
          </p:cNvPr>
          <p:cNvSpPr>
            <a:spLocks noGrp="1"/>
          </p:cNvSpPr>
          <p:nvPr/>
        </p:nvSpPr>
        <p:spPr>
          <a:xfrm>
            <a:off x="3810000" y="2381250"/>
            <a:ext cx="953" cy="2933700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D8C56334-078C-49AB-82E9-DE8CBC4B7646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953" cy="2933700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1C984BD-CFED-4238-B1BB-D14733093D87}"/>
              </a:ext>
            </a:extLst>
          </p:cNvPr>
          <p:cNvSpPr>
            <a:spLocks noGrp="1"/>
          </p:cNvSpPr>
          <p:nvPr/>
        </p:nvSpPr>
        <p:spPr>
          <a:xfrm>
            <a:off x="3619500" y="54578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T0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5C092B4-31DB-4C40-A46D-B73E326C888B}"/>
              </a:ext>
            </a:extLst>
          </p:cNvPr>
          <p:cNvSpPr>
            <a:spLocks noGrp="1"/>
          </p:cNvSpPr>
          <p:nvPr/>
        </p:nvSpPr>
        <p:spPr>
          <a:xfrm>
            <a:off x="7429500" y="54578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7120C269-02EE-4807-ADFF-7EEA95166FFA}"/>
              </a:ext>
            </a:extLst>
          </p:cNvPr>
          <p:cNvSpPr>
            <a:spLocks noGrp="1"/>
          </p:cNvSpPr>
          <p:nvPr/>
        </p:nvSpPr>
        <p:spPr>
          <a:xfrm>
            <a:off x="4095750" y="5562600"/>
            <a:ext cx="32385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29603F-06D8-46A9-B9E9-431D1B5F2022}"/>
              </a:ext>
            </a:extLst>
          </p:cNvPr>
          <p:cNvSpPr>
            <a:spLocks noGrp="1"/>
          </p:cNvSpPr>
          <p:nvPr/>
        </p:nvSpPr>
        <p:spPr>
          <a:xfrm>
            <a:off x="4524375" y="518160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안정화 시간 확보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31D47F4-FAF8-49A9-A354-67B16C96399B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FF2가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없애는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것이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FF1에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안정될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시간을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줌 ·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실패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확률은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ko-KR" altLang="en-US"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이 아님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7378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7F1136-CB08-4B43-AE2B-BB3944D5D0E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F58A2B-9ECE-4822-B323-BC269162E204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 처리: 동기화와 디바운싱의 차이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F649B2-12A2-4CAB-8040-6F057C4D3EF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366955-281B-4219-90F6-CEB6FE79890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7926D4-692D-4CCB-989B-60859C668748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B26D0B-237F-4BC7-8E70-D0D27E2A498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490FC6F-54A3-41C0-9B73-9FBF6B6D04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3896481"/>
              </p:ext>
            </p:extLst>
          </p:nvPr>
        </p:nvGraphicFramePr>
        <p:xfrm>
          <a:off x="685800" y="2131446"/>
          <a:ext cx="10820400" cy="288036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Synchronizer (동기화)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Debouncer (채터링 제거)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해결하는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클록과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입력의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접점의 반복적인 떨림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 원인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클록과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무관한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변화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기계식 접점의 ON/OFF 반복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예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클록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수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사이클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100MHz에서는 ns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접점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상태를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충분히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기다림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lang="ko-KR" altLang="en-US" sz="1650" b="0" dirty="0" err="1" smtClean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모듈마다</a:t>
                      </a:r>
                      <a:r>
                        <a:rPr lang="ko-KR" altLang="en-US" sz="1650" b="0" dirty="0" smtClean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다르나</a:t>
                      </a:r>
                      <a:r>
                        <a:rPr sz="1650" b="0" dirty="0" smtClean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10ms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ko-KR" altLang="en-US" sz="1650" b="0" dirty="0" smtClean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방법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플립플롭 2단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지속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확인용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카운터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F13F452-14FC-4987-A406-ADF2E12B3345}"/>
              </a:ext>
            </a:extLst>
          </p:cNvPr>
          <p:cNvSpPr>
            <a:spLocks noGrp="1"/>
          </p:cNvSpPr>
          <p:nvPr/>
        </p:nvSpPr>
        <p:spPr>
          <a:xfrm>
            <a:off x="685800" y="5227071"/>
            <a:ext cx="104775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315D7-1043-4692-BECD-749AFECB6222}"/>
              </a:ext>
            </a:extLst>
          </p:cNvPr>
          <p:cNvSpPr>
            <a:spLocks noGrp="1"/>
          </p:cNvSpPr>
          <p:nvPr/>
        </p:nvSpPr>
        <p:spPr>
          <a:xfrm>
            <a:off x="828675" y="5369946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버튼</a:t>
            </a:r>
          </a:p>
        </p:txBody>
      </p:sp>
      <p:sp>
        <p:nvSpPr>
          <p:cNvPr id="11" name="오른쪽 화살표 10">
            <a:extLst>
              <a:ext uri="{FF2B5EF4-FFF2-40B4-BE49-F238E27FC236}">
                <a16:creationId xmlns:a16="http://schemas.microsoft.com/office/drawing/2014/main" id="{EDA7FA85-C377-469E-A791-21E95FB53C6E}"/>
              </a:ext>
            </a:extLst>
          </p:cNvPr>
          <p:cNvSpPr>
            <a:spLocks noGrp="1"/>
          </p:cNvSpPr>
          <p:nvPr/>
        </p:nvSpPr>
        <p:spPr>
          <a:xfrm>
            <a:off x="1866900" y="5408046"/>
            <a:ext cx="3619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E6CCD8-666D-4A33-86A6-84C94F7FF507}"/>
              </a:ext>
            </a:extLst>
          </p:cNvPr>
          <p:cNvSpPr>
            <a:spLocks noGrp="1"/>
          </p:cNvSpPr>
          <p:nvPr/>
        </p:nvSpPr>
        <p:spPr>
          <a:xfrm>
            <a:off x="2371725" y="5227071"/>
            <a:ext cx="238125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189431-8AAD-4B65-8421-FD3722090923}"/>
              </a:ext>
            </a:extLst>
          </p:cNvPr>
          <p:cNvSpPr>
            <a:spLocks noGrp="1"/>
          </p:cNvSpPr>
          <p:nvPr/>
        </p:nvSpPr>
        <p:spPr>
          <a:xfrm>
            <a:off x="2514600" y="5369946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2FF 동기화</a:t>
            </a:r>
          </a:p>
        </p:txBody>
      </p:sp>
      <p:sp>
        <p:nvSpPr>
          <p:cNvPr id="14" name="오른쪽 화살표 13">
            <a:extLst>
              <a:ext uri="{FF2B5EF4-FFF2-40B4-BE49-F238E27FC236}">
                <a16:creationId xmlns:a16="http://schemas.microsoft.com/office/drawing/2014/main" id="{31A09DE7-3CA9-4DB5-9026-CEE9078217EF}"/>
              </a:ext>
            </a:extLst>
          </p:cNvPr>
          <p:cNvSpPr>
            <a:spLocks noGrp="1"/>
          </p:cNvSpPr>
          <p:nvPr/>
        </p:nvSpPr>
        <p:spPr>
          <a:xfrm>
            <a:off x="4886325" y="5408046"/>
            <a:ext cx="3619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E98F95-7E4E-4B1F-8326-E48639B42CA2}"/>
              </a:ext>
            </a:extLst>
          </p:cNvPr>
          <p:cNvSpPr>
            <a:spLocks noGrp="1"/>
          </p:cNvSpPr>
          <p:nvPr/>
        </p:nvSpPr>
        <p:spPr>
          <a:xfrm>
            <a:off x="5391150" y="5227071"/>
            <a:ext cx="219075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3B3890-3F51-4DFB-9F3D-856ABBC00886}"/>
              </a:ext>
            </a:extLst>
          </p:cNvPr>
          <p:cNvSpPr>
            <a:spLocks noGrp="1"/>
          </p:cNvSpPr>
          <p:nvPr/>
        </p:nvSpPr>
        <p:spPr>
          <a:xfrm>
            <a:off x="5534025" y="5369946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디바운서</a:t>
            </a:r>
          </a:p>
        </p:txBody>
      </p:sp>
      <p:sp>
        <p:nvSpPr>
          <p:cNvPr id="17" name="오른쪽 화살표 16">
            <a:extLst>
              <a:ext uri="{FF2B5EF4-FFF2-40B4-BE49-F238E27FC236}">
                <a16:creationId xmlns:a16="http://schemas.microsoft.com/office/drawing/2014/main" id="{B6DE0083-401A-4727-8F74-DFD6589171B8}"/>
              </a:ext>
            </a:extLst>
          </p:cNvPr>
          <p:cNvSpPr>
            <a:spLocks noGrp="1"/>
          </p:cNvSpPr>
          <p:nvPr/>
        </p:nvSpPr>
        <p:spPr>
          <a:xfrm>
            <a:off x="7715250" y="5408046"/>
            <a:ext cx="3619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146B60C-ADCC-477C-9A3B-1A56B1D75D05}"/>
              </a:ext>
            </a:extLst>
          </p:cNvPr>
          <p:cNvSpPr>
            <a:spLocks noGrp="1"/>
          </p:cNvSpPr>
          <p:nvPr/>
        </p:nvSpPr>
        <p:spPr>
          <a:xfrm>
            <a:off x="8220075" y="5227071"/>
            <a:ext cx="1381125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F3037B-125C-4322-9252-97F1B770DC54}"/>
              </a:ext>
            </a:extLst>
          </p:cNvPr>
          <p:cNvSpPr>
            <a:spLocks noGrp="1"/>
          </p:cNvSpPr>
          <p:nvPr/>
        </p:nvSpPr>
        <p:spPr>
          <a:xfrm>
            <a:off x="8362950" y="5369946"/>
            <a:ext cx="1095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FSM</a:t>
            </a:r>
          </a:p>
        </p:txBody>
      </p:sp>
    </p:spTree>
    <p:extLst>
      <p:ext uri="{BB962C8B-B14F-4D97-AF65-F5344CB8AC3E}">
        <p14:creationId xmlns:p14="http://schemas.microsoft.com/office/powerpoint/2010/main" val="400296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BAC41CA-ED1E-47CD-BC79-B46AC308005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기초 개념·원인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CD5503F-7D3C-40F5-AD66-6413A9E8457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Glitch의 전제: 게이트에도 전달 시간이 필요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86DA32-9464-4FBA-B4DB-E47221FB1F4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BE50E7-827E-4A2E-AF2F-B95BA2654A3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0CAC8E-7B77-4257-B3C3-F198D5AD8A3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83FAD2-23C4-4BF4-8D20-E719E48003F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58A2E8-4FD5-4A5A-86E3-A645A8CCFFF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논리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게이트는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입력이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바뀌어도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출력이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즉시 바뀌지 </a:t>
            </a:r>
            <a:r>
              <a:rPr lang="ko-KR" altLang="en-US" dirty="0" smtClean="0"/>
              <a:t>않음</a:t>
            </a:r>
            <a:r>
              <a:rPr lang="en-US" altLang="ko-KR" dirty="0" smtClean="0"/>
              <a:t>.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FA4AD6-005D-4FDD-9122-FC0FD9813FEA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입력 A</a:t>
            </a:r>
          </a:p>
        </p:txBody>
      </p:sp>
      <p:sp>
        <p:nvSpPr>
          <p:cNvPr id="9" name="오른쪽 화살표 8">
            <a:extLst>
              <a:ext uri="{FF2B5EF4-FFF2-40B4-BE49-F238E27FC236}">
                <a16:creationId xmlns:a16="http://schemas.microsoft.com/office/drawing/2014/main" id="{917F29C1-5F5C-4559-A47A-B0C8C0906FEC}"/>
              </a:ext>
            </a:extLst>
          </p:cNvPr>
          <p:cNvSpPr>
            <a:spLocks noGrp="1"/>
          </p:cNvSpPr>
          <p:nvPr/>
        </p:nvSpPr>
        <p:spPr>
          <a:xfrm>
            <a:off x="2247900" y="2895600"/>
            <a:ext cx="6191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05FB65-CFE8-4A3F-8C1B-D66C9079D7EF}"/>
              </a:ext>
            </a:extLst>
          </p:cNvPr>
          <p:cNvSpPr>
            <a:spLocks noGrp="1"/>
          </p:cNvSpPr>
          <p:nvPr/>
        </p:nvSpPr>
        <p:spPr>
          <a:xfrm>
            <a:off x="3067050" y="2581275"/>
            <a:ext cx="2000250" cy="7048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39320B-7EEB-457B-A653-D175433AC3DF}"/>
              </a:ext>
            </a:extLst>
          </p:cNvPr>
          <p:cNvSpPr>
            <a:spLocks noGrp="1"/>
          </p:cNvSpPr>
          <p:nvPr/>
        </p:nvSpPr>
        <p:spPr>
          <a:xfrm>
            <a:off x="3209925" y="272415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NOT</a:t>
            </a: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487B54FD-F764-45EF-A43C-212F99C18D81}"/>
              </a:ext>
            </a:extLst>
          </p:cNvPr>
          <p:cNvSpPr>
            <a:spLocks noGrp="1"/>
          </p:cNvSpPr>
          <p:nvPr/>
        </p:nvSpPr>
        <p:spPr>
          <a:xfrm>
            <a:off x="5257800" y="2895600"/>
            <a:ext cx="6191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20CAFE-D58C-4790-886E-3D50095CF8EE}"/>
              </a:ext>
            </a:extLst>
          </p:cNvPr>
          <p:cNvSpPr>
            <a:spLocks noGrp="1"/>
          </p:cNvSpPr>
          <p:nvPr/>
        </p:nvSpPr>
        <p:spPr>
          <a:xfrm>
            <a:off x="6076950" y="2743200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출력 Y = A′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4AC3CA-83B6-4760-B864-A8524EEAAF99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7CE9EC24-E0CA-4364-8499-BC6D5B500539}"/>
              </a:ext>
            </a:extLst>
          </p:cNvPr>
          <p:cNvSpPr>
            <a:spLocks noGrp="1"/>
          </p:cNvSpPr>
          <p:nvPr/>
        </p:nvSpPr>
        <p:spPr>
          <a:xfrm>
            <a:off x="2000250" y="3800475"/>
            <a:ext cx="2762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83EEF11E-599C-4826-81B6-2BE55DB7D7EF}"/>
              </a:ext>
            </a:extLst>
          </p:cNvPr>
          <p:cNvSpPr>
            <a:spLocks noGrp="1"/>
          </p:cNvSpPr>
          <p:nvPr/>
        </p:nvSpPr>
        <p:spPr>
          <a:xfrm>
            <a:off x="4762500" y="3800475"/>
            <a:ext cx="953" cy="3048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09E9D5D4-EF05-4EB2-A910-94DB06ABCF17}"/>
              </a:ext>
            </a:extLst>
          </p:cNvPr>
          <p:cNvSpPr>
            <a:spLocks noGrp="1"/>
          </p:cNvSpPr>
          <p:nvPr/>
        </p:nvSpPr>
        <p:spPr>
          <a:xfrm>
            <a:off x="4762500" y="4105275"/>
            <a:ext cx="6381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CC1837C-7EDB-4424-943D-E2C9C6CA6ECC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78EDD1E5-9EFE-45AA-B002-ED9F462DFE42}"/>
              </a:ext>
            </a:extLst>
          </p:cNvPr>
          <p:cNvSpPr>
            <a:spLocks noGrp="1"/>
          </p:cNvSpPr>
          <p:nvPr/>
        </p:nvSpPr>
        <p:spPr>
          <a:xfrm>
            <a:off x="2000250" y="4991100"/>
            <a:ext cx="3714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4B123A88-43F6-4663-A387-A4D46253403E}"/>
              </a:ext>
            </a:extLst>
          </p:cNvPr>
          <p:cNvSpPr>
            <a:spLocks noGrp="1"/>
          </p:cNvSpPr>
          <p:nvPr/>
        </p:nvSpPr>
        <p:spPr>
          <a:xfrm flipV="1">
            <a:off x="5715000" y="4686300"/>
            <a:ext cx="953" cy="3048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CA19225-37A1-4303-9C32-EE4BDBADB845}"/>
              </a:ext>
            </a:extLst>
          </p:cNvPr>
          <p:cNvSpPr>
            <a:spLocks noGrp="1"/>
          </p:cNvSpPr>
          <p:nvPr/>
        </p:nvSpPr>
        <p:spPr>
          <a:xfrm>
            <a:off x="5715000" y="4686300"/>
            <a:ext cx="5429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AA8151F0-E900-4567-9F39-F258B5AC66BC}"/>
              </a:ext>
            </a:extLst>
          </p:cNvPr>
          <p:cNvSpPr>
            <a:spLocks noGrp="1"/>
          </p:cNvSpPr>
          <p:nvPr/>
        </p:nvSpPr>
        <p:spPr>
          <a:xfrm>
            <a:off x="4762500" y="3600450"/>
            <a:ext cx="953" cy="1685925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541EF29E-F489-4BB8-944E-87D5791565D8}"/>
              </a:ext>
            </a:extLst>
          </p:cNvPr>
          <p:cNvSpPr>
            <a:spLocks noGrp="1"/>
          </p:cNvSpPr>
          <p:nvPr/>
        </p:nvSpPr>
        <p:spPr>
          <a:xfrm>
            <a:off x="5715000" y="3600450"/>
            <a:ext cx="953" cy="1685925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A72F381D-E69A-4DBA-A754-69A7CBE86DC5}"/>
              </a:ext>
            </a:extLst>
          </p:cNvPr>
          <p:cNvSpPr>
            <a:spLocks noGrp="1"/>
          </p:cNvSpPr>
          <p:nvPr/>
        </p:nvSpPr>
        <p:spPr>
          <a:xfrm>
            <a:off x="4762500" y="5448300"/>
            <a:ext cx="9525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D40D7F-EE60-4D58-9AD3-03928AADC9B9}"/>
              </a:ext>
            </a:extLst>
          </p:cNvPr>
          <p:cNvSpPr>
            <a:spLocks noGrp="1"/>
          </p:cNvSpPr>
          <p:nvPr/>
        </p:nvSpPr>
        <p:spPr>
          <a:xfrm>
            <a:off x="6115050" y="5276850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전달 지연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71EB232-7A55-4386-A173-08DE2C32049C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이 시간이 경로마다 다르면 도착 시점이 어긋남 → 순간적인 잘못된 출력(Glitch) 가능</a:t>
            </a:r>
          </a:p>
        </p:txBody>
      </p:sp>
    </p:spTree>
    <p:extLst>
      <p:ext uri="{BB962C8B-B14F-4D97-AF65-F5344CB8AC3E}">
        <p14:creationId xmlns:p14="http://schemas.microsoft.com/office/powerpoint/2010/main" val="135000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22CE43A6-A0AD-4887-A130-58AA8FC2FA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정의·원인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B631ED-1D2B-48BE-869C-4D2BC6B55496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Glitch: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경로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지연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차이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예제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3F1CD9-4554-4BF5-A4D3-05070DD04BD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06AD5-A78C-43E8-A694-99F2255C209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C33F42-83F1-4009-8774-C10AFEB4465E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60058F-6762-4F60-AE92-6D4DED6D156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9E484B-8FF7-4B18-977E-A032DA2F9279}"/>
              </a:ext>
            </a:extLst>
          </p:cNvPr>
          <p:cNvSpPr>
            <a:spLocks noGrp="1"/>
          </p:cNvSpPr>
          <p:nvPr/>
        </p:nvSpPr>
        <p:spPr>
          <a:xfrm>
            <a:off x="685800" y="2641054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Y = A·B + A′·C     /     B = C = 1     /     A: 1 →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DA8E6A-954C-4FA9-9990-0FDFE69DEBF6}"/>
              </a:ext>
            </a:extLst>
          </p:cNvPr>
          <p:cNvSpPr>
            <a:spLocks noGrp="1"/>
          </p:cNvSpPr>
          <p:nvPr/>
        </p:nvSpPr>
        <p:spPr>
          <a:xfrm>
            <a:off x="2333625" y="3395079"/>
            <a:ext cx="1381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E458A8-D3DE-4008-B02B-C47C25F0ADC9}"/>
              </a:ext>
            </a:extLst>
          </p:cNvPr>
          <p:cNvSpPr>
            <a:spLocks noGrp="1"/>
          </p:cNvSpPr>
          <p:nvPr/>
        </p:nvSpPr>
        <p:spPr>
          <a:xfrm>
            <a:off x="2476500" y="3537954"/>
            <a:ext cx="1095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A·B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3598F6-8128-4EF4-BC0D-D0E7C50281A2}"/>
              </a:ext>
            </a:extLst>
          </p:cNvPr>
          <p:cNvSpPr>
            <a:spLocks noGrp="1"/>
          </p:cNvSpPr>
          <p:nvPr/>
        </p:nvSpPr>
        <p:spPr>
          <a:xfrm>
            <a:off x="1381125" y="4461879"/>
            <a:ext cx="1000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5F35D2-9FE7-4F13-937D-EBFDF36B5878}"/>
              </a:ext>
            </a:extLst>
          </p:cNvPr>
          <p:cNvSpPr>
            <a:spLocks noGrp="1"/>
          </p:cNvSpPr>
          <p:nvPr/>
        </p:nvSpPr>
        <p:spPr>
          <a:xfrm>
            <a:off x="1524000" y="4604754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NOT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187155-4E30-462B-A78E-2728841AD3E7}"/>
              </a:ext>
            </a:extLst>
          </p:cNvPr>
          <p:cNvSpPr>
            <a:spLocks noGrp="1"/>
          </p:cNvSpPr>
          <p:nvPr/>
        </p:nvSpPr>
        <p:spPr>
          <a:xfrm>
            <a:off x="3067050" y="4461879"/>
            <a:ext cx="1381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F0ADDC-E6E8-4415-B8CC-0BCA6B2E6CD9}"/>
              </a:ext>
            </a:extLst>
          </p:cNvPr>
          <p:cNvSpPr>
            <a:spLocks noGrp="1"/>
          </p:cNvSpPr>
          <p:nvPr/>
        </p:nvSpPr>
        <p:spPr>
          <a:xfrm>
            <a:off x="3209925" y="4640850"/>
            <a:ext cx="1095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A′·C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1DE7DA-A329-496C-BCAD-5EDD8570339B}"/>
              </a:ext>
            </a:extLst>
          </p:cNvPr>
          <p:cNvSpPr>
            <a:spLocks noGrp="1"/>
          </p:cNvSpPr>
          <p:nvPr/>
        </p:nvSpPr>
        <p:spPr>
          <a:xfrm>
            <a:off x="5200650" y="3852279"/>
            <a:ext cx="1000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44AD45-A239-4ABB-8B26-5354BD70E705}"/>
              </a:ext>
            </a:extLst>
          </p:cNvPr>
          <p:cNvSpPr>
            <a:spLocks noGrp="1"/>
          </p:cNvSpPr>
          <p:nvPr/>
        </p:nvSpPr>
        <p:spPr>
          <a:xfrm>
            <a:off x="5343525" y="3995154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OR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4F34CC-B783-40EA-87EF-62CFD240D2AD}"/>
              </a:ext>
            </a:extLst>
          </p:cNvPr>
          <p:cNvSpPr>
            <a:spLocks noGrp="1"/>
          </p:cNvSpPr>
          <p:nvPr/>
        </p:nvSpPr>
        <p:spPr>
          <a:xfrm>
            <a:off x="685800" y="3766554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1C9B7815-724C-4FB2-B07E-378C8707919D}"/>
              </a:ext>
            </a:extLst>
          </p:cNvPr>
          <p:cNvSpPr>
            <a:spLocks noGrp="1"/>
          </p:cNvSpPr>
          <p:nvPr/>
        </p:nvSpPr>
        <p:spPr>
          <a:xfrm>
            <a:off x="1066800" y="3918954"/>
            <a:ext cx="1238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EC485F70-BC9F-4005-A0AF-571AE8F36D95}"/>
              </a:ext>
            </a:extLst>
          </p:cNvPr>
          <p:cNvSpPr>
            <a:spLocks noGrp="1"/>
          </p:cNvSpPr>
          <p:nvPr/>
        </p:nvSpPr>
        <p:spPr>
          <a:xfrm>
            <a:off x="1190625" y="3671304"/>
            <a:ext cx="953" cy="1057275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B935DA6E-FA76-40C9-AB4A-502512E8AD4E}"/>
              </a:ext>
            </a:extLst>
          </p:cNvPr>
          <p:cNvSpPr>
            <a:spLocks noGrp="1"/>
          </p:cNvSpPr>
          <p:nvPr/>
        </p:nvSpPr>
        <p:spPr>
          <a:xfrm>
            <a:off x="1190625" y="3671304"/>
            <a:ext cx="11430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2D02F88-C236-4DB8-B449-962DB417495C}"/>
              </a:ext>
            </a:extLst>
          </p:cNvPr>
          <p:cNvSpPr>
            <a:spLocks noGrp="1"/>
          </p:cNvSpPr>
          <p:nvPr/>
        </p:nvSpPr>
        <p:spPr>
          <a:xfrm>
            <a:off x="1190625" y="4728579"/>
            <a:ext cx="1905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2" name="오른쪽 화살표 21">
            <a:extLst>
              <a:ext uri="{FF2B5EF4-FFF2-40B4-BE49-F238E27FC236}">
                <a16:creationId xmlns:a16="http://schemas.microsoft.com/office/drawing/2014/main" id="{93683EDF-41A1-4A9C-8411-8967A9A44582}"/>
              </a:ext>
            </a:extLst>
          </p:cNvPr>
          <p:cNvSpPr>
            <a:spLocks noGrp="1"/>
          </p:cNvSpPr>
          <p:nvPr/>
        </p:nvSpPr>
        <p:spPr>
          <a:xfrm>
            <a:off x="2514600" y="4671429"/>
            <a:ext cx="4000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81AB68B-E9D7-4B88-878E-41193FB73F2D}"/>
              </a:ext>
            </a:extLst>
          </p:cNvPr>
          <p:cNvSpPr>
            <a:spLocks noGrp="1"/>
          </p:cNvSpPr>
          <p:nvPr/>
        </p:nvSpPr>
        <p:spPr>
          <a:xfrm>
            <a:off x="3714750" y="3671304"/>
            <a:ext cx="10858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74907961-37C0-4169-B8BC-78D024035979}"/>
              </a:ext>
            </a:extLst>
          </p:cNvPr>
          <p:cNvSpPr>
            <a:spLocks noGrp="1"/>
          </p:cNvSpPr>
          <p:nvPr/>
        </p:nvSpPr>
        <p:spPr>
          <a:xfrm>
            <a:off x="4800600" y="3671304"/>
            <a:ext cx="953" cy="3810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8D9A3A93-54F8-4F62-9CD2-F6AB0131A812}"/>
              </a:ext>
            </a:extLst>
          </p:cNvPr>
          <p:cNvSpPr>
            <a:spLocks noGrp="1"/>
          </p:cNvSpPr>
          <p:nvPr/>
        </p:nvSpPr>
        <p:spPr>
          <a:xfrm>
            <a:off x="4800600" y="4052304"/>
            <a:ext cx="4000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32DFE8AF-97A5-45DB-8392-5B548378FBC0}"/>
              </a:ext>
            </a:extLst>
          </p:cNvPr>
          <p:cNvSpPr>
            <a:spLocks noGrp="1"/>
          </p:cNvSpPr>
          <p:nvPr/>
        </p:nvSpPr>
        <p:spPr>
          <a:xfrm>
            <a:off x="4448175" y="4728579"/>
            <a:ext cx="3524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D7E30DAE-AB79-4EEF-9199-A4A203D69FCE}"/>
              </a:ext>
            </a:extLst>
          </p:cNvPr>
          <p:cNvSpPr>
            <a:spLocks noGrp="1"/>
          </p:cNvSpPr>
          <p:nvPr/>
        </p:nvSpPr>
        <p:spPr>
          <a:xfrm flipV="1">
            <a:off x="4800600" y="4271379"/>
            <a:ext cx="953" cy="4572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C787A3C0-3449-45D3-93DB-A9B98DC65D5F}"/>
              </a:ext>
            </a:extLst>
          </p:cNvPr>
          <p:cNvSpPr>
            <a:spLocks noGrp="1"/>
          </p:cNvSpPr>
          <p:nvPr/>
        </p:nvSpPr>
        <p:spPr>
          <a:xfrm>
            <a:off x="4800600" y="4271379"/>
            <a:ext cx="4000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9" name="오른쪽 화살표 28">
            <a:extLst>
              <a:ext uri="{FF2B5EF4-FFF2-40B4-BE49-F238E27FC236}">
                <a16:creationId xmlns:a16="http://schemas.microsoft.com/office/drawing/2014/main" id="{4BD4E3EE-4465-413F-A79A-0D3CF5E5635B}"/>
              </a:ext>
            </a:extLst>
          </p:cNvPr>
          <p:cNvSpPr>
            <a:spLocks noGrp="1"/>
          </p:cNvSpPr>
          <p:nvPr/>
        </p:nvSpPr>
        <p:spPr>
          <a:xfrm>
            <a:off x="6343650" y="4052304"/>
            <a:ext cx="4095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0C5D721-836C-400D-BD6B-565E05CC64EE}"/>
              </a:ext>
            </a:extLst>
          </p:cNvPr>
          <p:cNvSpPr>
            <a:spLocks noGrp="1"/>
          </p:cNvSpPr>
          <p:nvPr/>
        </p:nvSpPr>
        <p:spPr>
          <a:xfrm>
            <a:off x="6896100" y="3918954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8B6DE30-3127-4E29-9DFA-DD26BE703F32}"/>
              </a:ext>
            </a:extLst>
          </p:cNvPr>
          <p:cNvSpPr>
            <a:spLocks noGrp="1"/>
          </p:cNvSpPr>
          <p:nvPr/>
        </p:nvSpPr>
        <p:spPr>
          <a:xfrm>
            <a:off x="2879155" y="3090279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B=1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BE7AAC-DDF0-4BC6-B370-CFBD7A0D5EA7}"/>
              </a:ext>
            </a:extLst>
          </p:cNvPr>
          <p:cNvSpPr>
            <a:spLocks noGrp="1"/>
          </p:cNvSpPr>
          <p:nvPr/>
        </p:nvSpPr>
        <p:spPr>
          <a:xfrm>
            <a:off x="3546261" y="5138154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C=1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5179763-FDA4-4E1E-87F3-5AAFAA0A191A}"/>
              </a:ext>
            </a:extLst>
          </p:cNvPr>
          <p:cNvSpPr>
            <a:spLocks noGrp="1"/>
          </p:cNvSpPr>
          <p:nvPr/>
        </p:nvSpPr>
        <p:spPr>
          <a:xfrm>
            <a:off x="7915275" y="3309354"/>
            <a:ext cx="35909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지연을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가정하면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3648944-754A-4043-AC61-B4EAAC7CB1D9}"/>
              </a:ext>
            </a:extLst>
          </p:cNvPr>
          <p:cNvSpPr>
            <a:spLocks noGrp="1"/>
          </p:cNvSpPr>
          <p:nvPr/>
        </p:nvSpPr>
        <p:spPr>
          <a:xfrm>
            <a:off x="7915275" y="3766554"/>
            <a:ext cx="35909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직접 경로가 먼저 0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반전 경로는 늦게 1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잠시 두 항이 모두 0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1E74F60-941E-451D-BC56-63B881A3657F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기대 Y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5345550-AA49-498E-86DD-E4DA2A1534C5}"/>
              </a:ext>
            </a:extLst>
          </p:cNvPr>
          <p:cNvSpPr>
            <a:spLocks noGrp="1"/>
          </p:cNvSpPr>
          <p:nvPr/>
        </p:nvSpPr>
        <p:spPr>
          <a:xfrm>
            <a:off x="1971675" y="5505450"/>
            <a:ext cx="46958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202BABF-DD86-44F4-91B3-324D6817D8F9}"/>
              </a:ext>
            </a:extLst>
          </p:cNvPr>
          <p:cNvSpPr>
            <a:spLocks noGrp="1"/>
          </p:cNvSpPr>
          <p:nvPr/>
        </p:nvSpPr>
        <p:spPr>
          <a:xfrm>
            <a:off x="7429500" y="53625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실제 Y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F82566B3-A05C-4817-BD51-2D06590ADD06}"/>
              </a:ext>
            </a:extLst>
          </p:cNvPr>
          <p:cNvSpPr>
            <a:spLocks noGrp="1"/>
          </p:cNvSpPr>
          <p:nvPr/>
        </p:nvSpPr>
        <p:spPr>
          <a:xfrm>
            <a:off x="8648700" y="5410200"/>
            <a:ext cx="952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41ACFCD7-3FA5-4BA9-BBA2-2D3B4D56ED29}"/>
              </a:ext>
            </a:extLst>
          </p:cNvPr>
          <p:cNvSpPr>
            <a:spLocks noGrp="1"/>
          </p:cNvSpPr>
          <p:nvPr/>
        </p:nvSpPr>
        <p:spPr>
          <a:xfrm>
            <a:off x="9601200" y="5410200"/>
            <a:ext cx="953" cy="2571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B1A25F44-799F-418B-B9A9-88F4BE30D528}"/>
              </a:ext>
            </a:extLst>
          </p:cNvPr>
          <p:cNvSpPr>
            <a:spLocks noGrp="1"/>
          </p:cNvSpPr>
          <p:nvPr/>
        </p:nvSpPr>
        <p:spPr>
          <a:xfrm>
            <a:off x="9601200" y="5667375"/>
            <a:ext cx="4095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6D93AAB-EF45-4B69-BE69-96411B0332FF}"/>
              </a:ext>
            </a:extLst>
          </p:cNvPr>
          <p:cNvSpPr>
            <a:spLocks noGrp="1"/>
          </p:cNvSpPr>
          <p:nvPr/>
        </p:nvSpPr>
        <p:spPr>
          <a:xfrm flipV="1">
            <a:off x="10010775" y="5410200"/>
            <a:ext cx="953" cy="2571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66A825DD-C7FC-4347-877B-37EE28316C50}"/>
              </a:ext>
            </a:extLst>
          </p:cNvPr>
          <p:cNvSpPr>
            <a:spLocks noGrp="1"/>
          </p:cNvSpPr>
          <p:nvPr/>
        </p:nvSpPr>
        <p:spPr>
          <a:xfrm>
            <a:off x="10010775" y="5410200"/>
            <a:ext cx="14954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C163657-7FF4-494D-835E-DCE22AF6736E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Hazard: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Glitch가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가능한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구조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/ Glitch: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순간</a:t>
            </a:r>
            <a:r>
              <a:rPr lang="en-US"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펄스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5179763-FDA4-4E1E-87F3-5AAFAA0A191A}"/>
              </a:ext>
            </a:extLst>
          </p:cNvPr>
          <p:cNvSpPr>
            <a:spLocks noGrp="1"/>
          </p:cNvSpPr>
          <p:nvPr/>
        </p:nvSpPr>
        <p:spPr>
          <a:xfrm>
            <a:off x="685799" y="1717791"/>
            <a:ext cx="10643839" cy="7166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논리적으로 출력이 변하면 안 되는 상황에서 </a:t>
            </a:r>
            <a:r>
              <a:rPr lang="en-US" altLang="ko-KR" dirty="0"/>
              <a:t>Propagation Delay </a:t>
            </a:r>
            <a:r>
              <a:rPr lang="ko-KR" altLang="en-US" dirty="0"/>
              <a:t>차이 때문에 </a:t>
            </a:r>
            <a:endParaRPr lang="en-US" altLang="ko-KR" dirty="0" smtClean="0"/>
          </a:p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순간적으로 </a:t>
            </a:r>
            <a:r>
              <a:rPr lang="ko-KR" altLang="en-US" dirty="0"/>
              <a:t>잘못된 값이 발생하는 현상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C163657-7FF4-494D-835E-DCE22AF6736E}"/>
              </a:ext>
            </a:extLst>
          </p:cNvPr>
          <p:cNvSpPr>
            <a:spLocks noGrp="1"/>
          </p:cNvSpPr>
          <p:nvPr/>
        </p:nvSpPr>
        <p:spPr>
          <a:xfrm>
            <a:off x="383181" y="3179800"/>
            <a:ext cx="228163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dirty="0" smtClean="0"/>
              <a:t>예시</a:t>
            </a:r>
            <a:r>
              <a:rPr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Static-1 Hazard</a:t>
            </a:r>
          </a:p>
        </p:txBody>
      </p:sp>
    </p:spTree>
    <p:extLst>
      <p:ext uri="{BB962C8B-B14F-4D97-AF65-F5344CB8AC3E}">
        <p14:creationId xmlns:p14="http://schemas.microsoft.com/office/powerpoint/2010/main" val="1544655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D0257D65-AF67-4456-8BB5-0397B795860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문제점·해결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DB9D58-80DF-4404-8156-DFAADF7BFC5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Glitch: </a:t>
            </a:r>
            <a:r>
              <a:rPr lang="en-US" altLang="ko-KR" dirty="0"/>
              <a:t>Clock Sampling</a:t>
            </a:r>
            <a:r>
              <a:rPr lang="ko-KR" altLang="en-US" dirty="0"/>
              <a:t>에 따른 실제 </a:t>
            </a:r>
            <a:r>
              <a:rPr lang="ko-KR" altLang="en-US" dirty="0" err="1"/>
              <a:t>오동작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30BEE0-3879-43E2-82E9-9949DB9AE6E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33162E-8295-4EDC-8C6B-B18110F8E67D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7BDC6D-2CED-4E29-99F6-5358D60CA0F8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451C03-4C1D-41F4-A4AC-C599227194E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BDDC5B-032C-435B-B45C-D16BB3C7702F}"/>
              </a:ext>
            </a:extLst>
          </p:cNvPr>
          <p:cNvSpPr>
            <a:spLocks noGrp="1"/>
          </p:cNvSpPr>
          <p:nvPr/>
        </p:nvSpPr>
        <p:spPr>
          <a:xfrm>
            <a:off x="685800" y="1775658"/>
            <a:ext cx="10820400" cy="68675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문제점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lang="en-US" altLang="ko-KR" dirty="0"/>
              <a:t>Glitch</a:t>
            </a:r>
            <a:r>
              <a:rPr lang="ko-KR" altLang="en-US" dirty="0"/>
              <a:t>가 </a:t>
            </a:r>
            <a:r>
              <a:rPr lang="en-US" altLang="ko-KR" dirty="0"/>
              <a:t>Clock Edge</a:t>
            </a:r>
            <a:r>
              <a:rPr lang="ko-KR" altLang="en-US" dirty="0"/>
              <a:t>의 샘플링 구간과 겹치면 의도하지 않은 값이 </a:t>
            </a:r>
            <a:r>
              <a:rPr lang="ko-KR" altLang="en-US" dirty="0" smtClean="0"/>
              <a:t>샘플링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7035CB-F8D5-45F9-B216-BDBAA68E296D}"/>
              </a:ext>
            </a:extLst>
          </p:cNvPr>
          <p:cNvSpPr>
            <a:spLocks noGrp="1"/>
          </p:cNvSpPr>
          <p:nvPr/>
        </p:nvSpPr>
        <p:spPr>
          <a:xfrm>
            <a:off x="691306" y="2384759"/>
            <a:ext cx="49434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에지와 겹쳐 HIGH로 샘플링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CA0912-16D7-447F-A18F-F397F34476B9}"/>
              </a:ext>
            </a:extLst>
          </p:cNvPr>
          <p:cNvSpPr>
            <a:spLocks noGrp="1"/>
          </p:cNvSpPr>
          <p:nvPr/>
        </p:nvSpPr>
        <p:spPr>
          <a:xfrm>
            <a:off x="691306" y="3051509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EN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26DE79-691A-4BD1-97D4-ABAC125F9CCF}"/>
              </a:ext>
            </a:extLst>
          </p:cNvPr>
          <p:cNvSpPr>
            <a:spLocks noGrp="1"/>
          </p:cNvSpPr>
          <p:nvPr/>
        </p:nvSpPr>
        <p:spPr>
          <a:xfrm>
            <a:off x="691306" y="3965909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287D3C3-E917-4F0E-8E69-46E3849F7FA3}"/>
              </a:ext>
            </a:extLst>
          </p:cNvPr>
          <p:cNvSpPr>
            <a:spLocks noGrp="1"/>
          </p:cNvSpPr>
          <p:nvPr/>
        </p:nvSpPr>
        <p:spPr>
          <a:xfrm>
            <a:off x="1586656" y="3232484"/>
            <a:ext cx="19050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16477E1E-35B4-469C-A506-5E9A9B168A25}"/>
              </a:ext>
            </a:extLst>
          </p:cNvPr>
          <p:cNvSpPr>
            <a:spLocks noGrp="1"/>
          </p:cNvSpPr>
          <p:nvPr/>
        </p:nvSpPr>
        <p:spPr>
          <a:xfrm flipV="1">
            <a:off x="3491656" y="2956259"/>
            <a:ext cx="953" cy="2762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9DC92239-9E4F-4CAD-8CB4-572B1404E5ED}"/>
              </a:ext>
            </a:extLst>
          </p:cNvPr>
          <p:cNvSpPr>
            <a:spLocks noGrp="1"/>
          </p:cNvSpPr>
          <p:nvPr/>
        </p:nvSpPr>
        <p:spPr>
          <a:xfrm>
            <a:off x="3491656" y="2956259"/>
            <a:ext cx="9048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AA016102-43FA-45EB-9C7E-8643E0AB54F0}"/>
              </a:ext>
            </a:extLst>
          </p:cNvPr>
          <p:cNvSpPr>
            <a:spLocks noGrp="1"/>
          </p:cNvSpPr>
          <p:nvPr/>
        </p:nvSpPr>
        <p:spPr>
          <a:xfrm>
            <a:off x="4396531" y="2956259"/>
            <a:ext cx="953" cy="2762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B183FFE8-90B7-44DD-B97A-561FBD712A55}"/>
              </a:ext>
            </a:extLst>
          </p:cNvPr>
          <p:cNvSpPr>
            <a:spLocks noGrp="1"/>
          </p:cNvSpPr>
          <p:nvPr/>
        </p:nvSpPr>
        <p:spPr>
          <a:xfrm>
            <a:off x="4396531" y="3232484"/>
            <a:ext cx="1238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04CB1E48-B1A9-4961-9EC4-7E762E02B9EF}"/>
              </a:ext>
            </a:extLst>
          </p:cNvPr>
          <p:cNvSpPr>
            <a:spLocks noGrp="1"/>
          </p:cNvSpPr>
          <p:nvPr/>
        </p:nvSpPr>
        <p:spPr>
          <a:xfrm>
            <a:off x="1586656" y="4146884"/>
            <a:ext cx="23336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92ED6140-8BEF-4F05-BFAC-23AD955F75CE}"/>
              </a:ext>
            </a:extLst>
          </p:cNvPr>
          <p:cNvSpPr>
            <a:spLocks noGrp="1"/>
          </p:cNvSpPr>
          <p:nvPr/>
        </p:nvSpPr>
        <p:spPr>
          <a:xfrm flipV="1">
            <a:off x="3920281" y="3870659"/>
            <a:ext cx="953" cy="2762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3BF1D633-40AF-4CB5-BB68-03D0ED60E46B}"/>
              </a:ext>
            </a:extLst>
          </p:cNvPr>
          <p:cNvSpPr>
            <a:spLocks noGrp="1"/>
          </p:cNvSpPr>
          <p:nvPr/>
        </p:nvSpPr>
        <p:spPr>
          <a:xfrm>
            <a:off x="3920281" y="3870659"/>
            <a:ext cx="8096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8D2C2B86-D9ED-4871-9A19-96BA8497745C}"/>
              </a:ext>
            </a:extLst>
          </p:cNvPr>
          <p:cNvSpPr>
            <a:spLocks noGrp="1"/>
          </p:cNvSpPr>
          <p:nvPr/>
        </p:nvSpPr>
        <p:spPr>
          <a:xfrm>
            <a:off x="4729906" y="3870659"/>
            <a:ext cx="953" cy="2762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2713532A-8D53-45C4-A2D2-D55CB5419614}"/>
              </a:ext>
            </a:extLst>
          </p:cNvPr>
          <p:cNvSpPr>
            <a:spLocks noGrp="1"/>
          </p:cNvSpPr>
          <p:nvPr/>
        </p:nvSpPr>
        <p:spPr>
          <a:xfrm>
            <a:off x="4729906" y="4146884"/>
            <a:ext cx="9048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6548B233-424D-481A-A56D-0C51450E7223}"/>
              </a:ext>
            </a:extLst>
          </p:cNvPr>
          <p:cNvSpPr>
            <a:spLocks noGrp="1"/>
          </p:cNvSpPr>
          <p:nvPr/>
        </p:nvSpPr>
        <p:spPr>
          <a:xfrm>
            <a:off x="3920281" y="2803859"/>
            <a:ext cx="953" cy="1571625"/>
          </a:xfrm>
          <a:prstGeom prst="line">
            <a:avLst/>
          </a:prstGeom>
          <a:noFill/>
          <a:ln w="11430">
            <a:solidFill>
              <a:srgbClr val="8DA3BC"/>
            </a:solidFill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E5E042-A297-44FF-BF14-37EAB32BDD50}"/>
              </a:ext>
            </a:extLst>
          </p:cNvPr>
          <p:cNvSpPr>
            <a:spLocks noGrp="1"/>
          </p:cNvSpPr>
          <p:nvPr/>
        </p:nvSpPr>
        <p:spPr>
          <a:xfrm>
            <a:off x="691306" y="4575509"/>
            <a:ext cx="6455452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EN=1 </a:t>
            </a:r>
            <a:r>
              <a:rPr sz="17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샘플링</a:t>
            </a: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→ COUNT 5→</a:t>
            </a: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lang="en-US"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의도하지 않은 동작</a:t>
            </a:r>
            <a:r>
              <a:rPr lang="en-US" altLang="ko-KR" dirty="0"/>
              <a:t>)</a:t>
            </a:r>
            <a:endParaRPr sz="17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2EFA025-386B-43EE-8D5B-21513DDCBC90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0ED2991-A867-496A-AE55-6D5AFED99C41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해결 방법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2BA2D7-CDCF-4F09-809A-1504BDD66159}"/>
              </a:ext>
            </a:extLst>
          </p:cNvPr>
          <p:cNvSpPr>
            <a:spLocks noGrp="1"/>
          </p:cNvSpPr>
          <p:nvPr/>
        </p:nvSpPr>
        <p:spPr>
          <a:xfrm>
            <a:off x="1901489" y="5429250"/>
            <a:ext cx="991352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동기식 제어 </a:t>
            </a:r>
            <a:r>
              <a:rPr lang="en-US" altLang="ko-KR" dirty="0"/>
              <a:t>· </a:t>
            </a:r>
            <a:r>
              <a:rPr lang="ko-KR" altLang="en-US" dirty="0"/>
              <a:t>출력 </a:t>
            </a:r>
            <a:r>
              <a:rPr lang="en-US" altLang="ko-KR" dirty="0"/>
              <a:t>Register</a:t>
            </a:r>
            <a:r>
              <a:rPr lang="ko-KR" altLang="en-US" dirty="0"/>
              <a:t>화 </a:t>
            </a:r>
            <a:r>
              <a:rPr lang="en-US" altLang="ko-KR" dirty="0"/>
              <a:t>· </a:t>
            </a:r>
            <a:r>
              <a:rPr lang="ko-KR" altLang="en-US" dirty="0"/>
              <a:t>비동기 입력 </a:t>
            </a:r>
            <a:r>
              <a:rPr lang="en-US" altLang="ko-KR" dirty="0"/>
              <a:t>Synchronizer · </a:t>
            </a:r>
            <a:r>
              <a:rPr lang="ko-KR" altLang="en-US" dirty="0" err="1"/>
              <a:t>조합논리</a:t>
            </a:r>
            <a:r>
              <a:rPr lang="ko-KR" altLang="en-US" dirty="0"/>
              <a:t> </a:t>
            </a:r>
            <a:r>
              <a:rPr lang="en-US" altLang="ko-KR" dirty="0"/>
              <a:t>Hazard </a:t>
            </a:r>
            <a:r>
              <a:rPr lang="ko-KR" altLang="en-US" dirty="0"/>
              <a:t>제거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A169E5A-68F9-4CAC-B50A-C10905EFF939}"/>
              </a:ext>
            </a:extLst>
          </p:cNvPr>
          <p:cNvSpPr>
            <a:spLocks noGrp="1"/>
          </p:cNvSpPr>
          <p:nvPr/>
        </p:nvSpPr>
        <p:spPr>
          <a:xfrm>
            <a:off x="685799" y="5876925"/>
            <a:ext cx="1133374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Edge </a:t>
            </a:r>
            <a:r>
              <a:rPr lang="ko-KR" altLang="en-US" dirty="0"/>
              <a:t>근처의 불안정한 변화는 </a:t>
            </a:r>
            <a:r>
              <a:rPr lang="en-US" altLang="ko-KR" dirty="0"/>
              <a:t>Setup/Hold </a:t>
            </a:r>
            <a:r>
              <a:rPr lang="ko-KR" altLang="en-US" dirty="0"/>
              <a:t>위반과 </a:t>
            </a:r>
            <a:r>
              <a:rPr lang="en-US" altLang="ko-KR" dirty="0" err="1"/>
              <a:t>Metastability</a:t>
            </a:r>
            <a:r>
              <a:rPr lang="ko-KR" altLang="en-US" dirty="0"/>
              <a:t>를 </a:t>
            </a:r>
            <a:r>
              <a:rPr lang="ko-KR" altLang="en-US" dirty="0" smtClean="0"/>
              <a:t>유발</a:t>
            </a:r>
            <a:r>
              <a:rPr lang="en-US" altLang="ko-KR" dirty="0" smtClean="0"/>
              <a:t>, </a:t>
            </a:r>
            <a:r>
              <a:rPr lang="en-US" altLang="ko-KR" dirty="0"/>
              <a:t>Clock/Reset</a:t>
            </a:r>
            <a:r>
              <a:rPr lang="ko-KR" altLang="en-US" dirty="0"/>
              <a:t>에 전달되는 </a:t>
            </a:r>
            <a:r>
              <a:rPr lang="en-US" altLang="ko-KR" dirty="0"/>
              <a:t>Glitch</a:t>
            </a:r>
            <a:r>
              <a:rPr lang="ko-KR" altLang="en-US" dirty="0"/>
              <a:t>는 직접적인 </a:t>
            </a:r>
            <a:r>
              <a:rPr lang="ko-KR" altLang="en-US" dirty="0" err="1"/>
              <a:t>오동작을</a:t>
            </a:r>
            <a:r>
              <a:rPr lang="ko-KR" altLang="en-US" dirty="0"/>
              <a:t> </a:t>
            </a:r>
            <a:r>
              <a:rPr lang="ko-KR" altLang="en-US" dirty="0" smtClean="0"/>
              <a:t>유발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4673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3EB1D588-06C9-4D39-99EE-6C5C1F80973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기초 개념·원인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85C2F8-5A00-4269-94A5-B1BFE257DA33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out의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전제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연결도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부하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692338-0035-4B11-8900-9FD51A0782A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ACF545-179E-43ED-AAAF-5EC76AADEDA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AECA10-D091-4969-B835-C55031A6D477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A44CDF-972B-4D73-91D5-927896ACDC5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8EF9F8-89B8-4E1A-AA2E-04435AB8CD97}"/>
              </a:ext>
            </a:extLst>
          </p:cNvPr>
          <p:cNvSpPr>
            <a:spLocks noGrp="1"/>
          </p:cNvSpPr>
          <p:nvPr/>
        </p:nvSpPr>
        <p:spPr>
          <a:xfrm>
            <a:off x="685800" y="1819975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입력 1개 구동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03B450-868E-4BC2-A547-E0416C5EA1E9}"/>
              </a:ext>
            </a:extLst>
          </p:cNvPr>
          <p:cNvSpPr>
            <a:spLocks noGrp="1"/>
          </p:cNvSpPr>
          <p:nvPr/>
        </p:nvSpPr>
        <p:spPr>
          <a:xfrm>
            <a:off x="685800" y="2496250"/>
            <a:ext cx="147637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999364-757D-41ED-BB05-628DEDD55D3D}"/>
              </a:ext>
            </a:extLst>
          </p:cNvPr>
          <p:cNvSpPr>
            <a:spLocks noGrp="1"/>
          </p:cNvSpPr>
          <p:nvPr/>
        </p:nvSpPr>
        <p:spPr>
          <a:xfrm>
            <a:off x="828675" y="2639125"/>
            <a:ext cx="1190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Driver</a:t>
            </a:r>
          </a:p>
        </p:txBody>
      </p:sp>
      <p:sp>
        <p:nvSpPr>
          <p:cNvPr id="11" name="오른쪽 화살표 10">
            <a:extLst>
              <a:ext uri="{FF2B5EF4-FFF2-40B4-BE49-F238E27FC236}">
                <a16:creationId xmlns:a16="http://schemas.microsoft.com/office/drawing/2014/main" id="{DD3C1431-BF4C-47EB-8FAE-4C16C7C6C116}"/>
              </a:ext>
            </a:extLst>
          </p:cNvPr>
          <p:cNvSpPr>
            <a:spLocks noGrp="1"/>
          </p:cNvSpPr>
          <p:nvPr/>
        </p:nvSpPr>
        <p:spPr>
          <a:xfrm>
            <a:off x="2324100" y="2724850"/>
            <a:ext cx="7143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251A13-E093-4047-AFD4-74265E736845}"/>
              </a:ext>
            </a:extLst>
          </p:cNvPr>
          <p:cNvSpPr>
            <a:spLocks noGrp="1"/>
          </p:cNvSpPr>
          <p:nvPr/>
        </p:nvSpPr>
        <p:spPr>
          <a:xfrm>
            <a:off x="3219450" y="2496250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B445A1-6603-4D43-9C0F-B0ADA1009BFE}"/>
              </a:ext>
            </a:extLst>
          </p:cNvPr>
          <p:cNvSpPr>
            <a:spLocks noGrp="1"/>
          </p:cNvSpPr>
          <p:nvPr/>
        </p:nvSpPr>
        <p:spPr>
          <a:xfrm>
            <a:off x="3362325" y="263912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9F8144-FB03-4BEB-AE79-AB8B205D2EB9}"/>
              </a:ext>
            </a:extLst>
          </p:cNvPr>
          <p:cNvSpPr>
            <a:spLocks noGrp="1"/>
          </p:cNvSpPr>
          <p:nvPr/>
        </p:nvSpPr>
        <p:spPr>
          <a:xfrm>
            <a:off x="685800" y="3439225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짧은 배선·작은 부하의 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B51ED1-F42A-44B1-B10B-28B0E97B4444}"/>
              </a:ext>
            </a:extLst>
          </p:cNvPr>
          <p:cNvSpPr>
            <a:spLocks noGrp="1"/>
          </p:cNvSpPr>
          <p:nvPr/>
        </p:nvSpPr>
        <p:spPr>
          <a:xfrm>
            <a:off x="6562725" y="1819975"/>
            <a:ext cx="49434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입력 500개 구동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D0DC16-3028-4428-B573-6CD4481C75D8}"/>
              </a:ext>
            </a:extLst>
          </p:cNvPr>
          <p:cNvSpPr>
            <a:spLocks noGrp="1"/>
          </p:cNvSpPr>
          <p:nvPr/>
        </p:nvSpPr>
        <p:spPr>
          <a:xfrm>
            <a:off x="6562725" y="2496250"/>
            <a:ext cx="147637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883262-1AEB-4E1B-B00A-7AF88F24562C}"/>
              </a:ext>
            </a:extLst>
          </p:cNvPr>
          <p:cNvSpPr>
            <a:spLocks noGrp="1"/>
          </p:cNvSpPr>
          <p:nvPr/>
        </p:nvSpPr>
        <p:spPr>
          <a:xfrm>
            <a:off x="6705600" y="2639125"/>
            <a:ext cx="1190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Driver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03C334C-C513-4711-AB59-44E46C6786A8}"/>
              </a:ext>
            </a:extLst>
          </p:cNvPr>
          <p:cNvSpPr>
            <a:spLocks noGrp="1"/>
          </p:cNvSpPr>
          <p:nvPr/>
        </p:nvSpPr>
        <p:spPr>
          <a:xfrm>
            <a:off x="8039100" y="2791525"/>
            <a:ext cx="5429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691BA64-8EA1-4712-BA99-00AB49EBBACF}"/>
              </a:ext>
            </a:extLst>
          </p:cNvPr>
          <p:cNvSpPr>
            <a:spLocks noGrp="1"/>
          </p:cNvSpPr>
          <p:nvPr/>
        </p:nvSpPr>
        <p:spPr>
          <a:xfrm>
            <a:off x="8582025" y="2296225"/>
            <a:ext cx="953" cy="1323975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D8300B11-9CDE-46F2-9957-2670D4713908}"/>
              </a:ext>
            </a:extLst>
          </p:cNvPr>
          <p:cNvSpPr>
            <a:spLocks noGrp="1"/>
          </p:cNvSpPr>
          <p:nvPr/>
        </p:nvSpPr>
        <p:spPr>
          <a:xfrm>
            <a:off x="8582025" y="2258125"/>
            <a:ext cx="5334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E0CDDE-2CB0-451A-B863-CED046D87F8E}"/>
              </a:ext>
            </a:extLst>
          </p:cNvPr>
          <p:cNvSpPr>
            <a:spLocks noGrp="1"/>
          </p:cNvSpPr>
          <p:nvPr/>
        </p:nvSpPr>
        <p:spPr>
          <a:xfrm>
            <a:off x="9115425" y="2039050"/>
            <a:ext cx="2390775" cy="457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71280C-EC15-4DE1-8FF9-79B11873B58D}"/>
              </a:ext>
            </a:extLst>
          </p:cNvPr>
          <p:cNvSpPr>
            <a:spLocks noGrp="1"/>
          </p:cNvSpPr>
          <p:nvPr/>
        </p:nvSpPr>
        <p:spPr>
          <a:xfrm>
            <a:off x="9258300" y="2181925"/>
            <a:ext cx="21050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61A0C3EA-7DEE-424B-A734-C46DA6BF055D}"/>
              </a:ext>
            </a:extLst>
          </p:cNvPr>
          <p:cNvSpPr>
            <a:spLocks noGrp="1"/>
          </p:cNvSpPr>
          <p:nvPr/>
        </p:nvSpPr>
        <p:spPr>
          <a:xfrm>
            <a:off x="8582025" y="2915350"/>
            <a:ext cx="5334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8B103-4C31-42D1-9C8E-549A33C57924}"/>
              </a:ext>
            </a:extLst>
          </p:cNvPr>
          <p:cNvSpPr>
            <a:spLocks noGrp="1"/>
          </p:cNvSpPr>
          <p:nvPr/>
        </p:nvSpPr>
        <p:spPr>
          <a:xfrm>
            <a:off x="9115425" y="2696275"/>
            <a:ext cx="2390775" cy="457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A84CD4-E87C-401B-86E9-C91F7B249C30}"/>
              </a:ext>
            </a:extLst>
          </p:cNvPr>
          <p:cNvSpPr>
            <a:spLocks noGrp="1"/>
          </p:cNvSpPr>
          <p:nvPr/>
        </p:nvSpPr>
        <p:spPr>
          <a:xfrm>
            <a:off x="9258300" y="2839150"/>
            <a:ext cx="21050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94149295-1FEB-44A0-968A-4656DE4F7094}"/>
              </a:ext>
            </a:extLst>
          </p:cNvPr>
          <p:cNvSpPr>
            <a:spLocks noGrp="1"/>
          </p:cNvSpPr>
          <p:nvPr/>
        </p:nvSpPr>
        <p:spPr>
          <a:xfrm>
            <a:off x="8582025" y="3572575"/>
            <a:ext cx="5334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0F135E-19F6-4BCC-8DCC-965FCA61CE52}"/>
              </a:ext>
            </a:extLst>
          </p:cNvPr>
          <p:cNvSpPr>
            <a:spLocks noGrp="1"/>
          </p:cNvSpPr>
          <p:nvPr/>
        </p:nvSpPr>
        <p:spPr>
          <a:xfrm>
            <a:off x="9115425" y="3353500"/>
            <a:ext cx="2390775" cy="457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F7ACB3F-11F3-430A-9FFB-B19ED1C1D3FF}"/>
              </a:ext>
            </a:extLst>
          </p:cNvPr>
          <p:cNvSpPr>
            <a:spLocks noGrp="1"/>
          </p:cNvSpPr>
          <p:nvPr/>
        </p:nvSpPr>
        <p:spPr>
          <a:xfrm>
            <a:off x="9258300" y="3496375"/>
            <a:ext cx="21050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FF500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FE3EDC-3FC5-4006-B1D0-3B0999E85A8C}"/>
              </a:ext>
            </a:extLst>
          </p:cNvPr>
          <p:cNvSpPr>
            <a:spLocks noGrp="1"/>
          </p:cNvSpPr>
          <p:nvPr/>
        </p:nvSpPr>
        <p:spPr>
          <a:xfrm>
            <a:off x="6562725" y="4037440"/>
            <a:ext cx="4943475" cy="3933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배선이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넓게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퍼지고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부하가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커질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있음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B7474B7-E0BC-42DC-804C-55747F423751}"/>
              </a:ext>
            </a:extLst>
          </p:cNvPr>
          <p:cNvSpPr>
            <a:spLocks noGrp="1"/>
          </p:cNvSpPr>
          <p:nvPr/>
        </p:nvSpPr>
        <p:spPr>
          <a:xfrm>
            <a:off x="685800" y="460127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CEBB29C-B0C6-40A0-AA08-9C8826F22FC6}"/>
              </a:ext>
            </a:extLst>
          </p:cNvPr>
          <p:cNvSpPr>
            <a:spLocks noGrp="1"/>
          </p:cNvSpPr>
          <p:nvPr/>
        </p:nvSpPr>
        <p:spPr>
          <a:xfrm>
            <a:off x="685800" y="4810822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7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느려지는 사유는</a:t>
            </a:r>
            <a:r>
              <a:rPr sz="187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?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6FE3EDC-3FC5-4006-B1D0-3B0999E85A8C}"/>
              </a:ext>
            </a:extLst>
          </p:cNvPr>
          <p:cNvSpPr>
            <a:spLocks noGrp="1"/>
          </p:cNvSpPr>
          <p:nvPr/>
        </p:nvSpPr>
        <p:spPr>
          <a:xfrm>
            <a:off x="3038475" y="4766784"/>
            <a:ext cx="8010525" cy="15517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000" dirty="0"/>
              <a:t>Driver</a:t>
            </a:r>
            <a:r>
              <a:rPr lang="ko-KR" altLang="en-US" sz="2000" dirty="0"/>
              <a:t>가 배선과 여러 입력 핀에 존재하는 </a:t>
            </a:r>
            <a:r>
              <a:rPr lang="en-US" altLang="ko-KR" sz="2000" dirty="0"/>
              <a:t>Capacitance</a:t>
            </a:r>
            <a:r>
              <a:rPr lang="ko-KR" altLang="en-US" sz="2000" dirty="0"/>
              <a:t>를 충전</a:t>
            </a:r>
            <a:r>
              <a:rPr lang="en-US" altLang="ko-KR" sz="2000" dirty="0"/>
              <a:t>/</a:t>
            </a:r>
            <a:r>
              <a:rPr lang="ko-KR" altLang="en-US" sz="2000" dirty="0"/>
              <a:t>방전해야 하기 때문에 출력 전압이 즉시 변하지 </a:t>
            </a:r>
            <a:r>
              <a:rPr lang="ko-KR" altLang="en-US" sz="2000" dirty="0" smtClean="0"/>
              <a:t>않음</a:t>
            </a:r>
            <a:endParaRPr lang="ko-KR" altLang="en-US" sz="2000" dirty="0"/>
          </a:p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000" dirty="0"/>
              <a:t>Fan-out</a:t>
            </a:r>
            <a:r>
              <a:rPr lang="ko-KR" altLang="en-US" sz="2000" dirty="0"/>
              <a:t>이 커지면 </a:t>
            </a:r>
            <a:r>
              <a:rPr lang="en-US" altLang="ko-KR" sz="2000" dirty="0"/>
              <a:t>Driver</a:t>
            </a:r>
            <a:r>
              <a:rPr lang="ko-KR" altLang="en-US" sz="2000" dirty="0"/>
              <a:t>가 더 큰 부하를 충</a:t>
            </a:r>
            <a:r>
              <a:rPr lang="en-US" altLang="ko-KR" sz="2000" dirty="0"/>
              <a:t>·</a:t>
            </a:r>
            <a:r>
              <a:rPr lang="ko-KR" altLang="en-US" sz="2000" dirty="0"/>
              <a:t>방전해야 하므로 신호의 상승</a:t>
            </a:r>
            <a:r>
              <a:rPr lang="en-US" altLang="ko-KR" sz="2000" dirty="0"/>
              <a:t>/</a:t>
            </a:r>
            <a:r>
              <a:rPr lang="ko-KR" altLang="en-US" sz="2000" dirty="0"/>
              <a:t>하강 시간이 </a:t>
            </a:r>
            <a:r>
              <a:rPr lang="ko-KR" altLang="en-US" sz="2000" dirty="0" err="1"/>
              <a:t>길어짐</a:t>
            </a:r>
            <a:endParaRPr lang="ko-KR" altLang="en-US" sz="2000" b="0" dirty="0">
              <a:solidFill>
                <a:srgbClr val="202C3F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2AECA10-D091-4969-B835-C55031A6D477}"/>
              </a:ext>
            </a:extLst>
          </p:cNvPr>
          <p:cNvSpPr>
            <a:spLocks noGrp="1"/>
          </p:cNvSpPr>
          <p:nvPr/>
        </p:nvSpPr>
        <p:spPr>
          <a:xfrm>
            <a:off x="685800" y="4068828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100" dirty="0"/>
              <a:t>Fan-out ↑ → Load Capacitance ↑ → Rise/Fall Time ↑ → Propagation Delay ↑</a:t>
            </a:r>
            <a:endParaRPr sz="1100" b="0" dirty="0">
              <a:solidFill>
                <a:srgbClr val="6571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92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C5CCA1-6753-4433-B444-DE57E29A14A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정의·원인·문제점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4E451F-600A-4A97-95CA-9360830614C5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Fan-out: 부하 수와 배선 지연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2FA484-B4C5-4D2D-A7C5-751F3A135A9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B2277E-ABF8-4E35-9C0D-0285C78BE3A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C2E6ED-FB07-42A1-95B1-39CCAC1BF26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418877-2913-4C6A-A88E-249AE3978D0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05CD61-66F4-438D-8C53-3096C7E410ED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out은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하나의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출력이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구동하는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부하의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수</a:t>
            </a:r>
            <a:endParaRPr sz="21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8BD7F4-15CF-4DC1-BA46-D17184E384F7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428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E278EF-892C-4ECF-AC03-CFD4B5BB2EB9}"/>
              </a:ext>
            </a:extLst>
          </p:cNvPr>
          <p:cNvSpPr>
            <a:spLocks noGrp="1"/>
          </p:cNvSpPr>
          <p:nvPr/>
        </p:nvSpPr>
        <p:spPr>
          <a:xfrm>
            <a:off x="828675" y="3448050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RESET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F05CF435-6860-46C4-9AEA-9961A2F91AFB}"/>
              </a:ext>
            </a:extLst>
          </p:cNvPr>
          <p:cNvSpPr>
            <a:spLocks noGrp="1"/>
          </p:cNvSpPr>
          <p:nvPr/>
        </p:nvSpPr>
        <p:spPr>
          <a:xfrm>
            <a:off x="2114550" y="3571875"/>
            <a:ext cx="7429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C6DB5247-5C8D-4FBC-941C-39292085CF5E}"/>
              </a:ext>
            </a:extLst>
          </p:cNvPr>
          <p:cNvSpPr>
            <a:spLocks noGrp="1"/>
          </p:cNvSpPr>
          <p:nvPr/>
        </p:nvSpPr>
        <p:spPr>
          <a:xfrm>
            <a:off x="2857500" y="2628900"/>
            <a:ext cx="953" cy="2009775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DFA68BC4-F9E4-4346-83EF-A3ECA77831D9}"/>
              </a:ext>
            </a:extLst>
          </p:cNvPr>
          <p:cNvSpPr>
            <a:spLocks noGrp="1"/>
          </p:cNvSpPr>
          <p:nvPr/>
        </p:nvSpPr>
        <p:spPr>
          <a:xfrm>
            <a:off x="2857500" y="2647950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7B46FB-C993-4A0B-9D36-3007AC746CA3}"/>
              </a:ext>
            </a:extLst>
          </p:cNvPr>
          <p:cNvSpPr>
            <a:spLocks noGrp="1"/>
          </p:cNvSpPr>
          <p:nvPr/>
        </p:nvSpPr>
        <p:spPr>
          <a:xfrm>
            <a:off x="3667125" y="2409825"/>
            <a:ext cx="171450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318250-49E8-43DF-BBE8-EC5EE4BBA4BA}"/>
              </a:ext>
            </a:extLst>
          </p:cNvPr>
          <p:cNvSpPr>
            <a:spLocks noGrp="1"/>
          </p:cNvSpPr>
          <p:nvPr/>
        </p:nvSpPr>
        <p:spPr>
          <a:xfrm>
            <a:off x="3810000" y="25527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DCC2A40-7FEF-43B5-BD5B-4D2640603C59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E68B690-D00F-4D37-B74A-CA677D4D0E6C}"/>
              </a:ext>
            </a:extLst>
          </p:cNvPr>
          <p:cNvSpPr>
            <a:spLocks noGrp="1"/>
          </p:cNvSpPr>
          <p:nvPr/>
        </p:nvSpPr>
        <p:spPr>
          <a:xfrm>
            <a:off x="3667125" y="3076575"/>
            <a:ext cx="171450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8133E4-9C60-4468-9377-9C477CD33A0E}"/>
              </a:ext>
            </a:extLst>
          </p:cNvPr>
          <p:cNvSpPr>
            <a:spLocks noGrp="1"/>
          </p:cNvSpPr>
          <p:nvPr/>
        </p:nvSpPr>
        <p:spPr>
          <a:xfrm>
            <a:off x="3810000" y="32194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344A6B9-AEF8-48F1-9168-4D9CCDABB11C}"/>
              </a:ext>
            </a:extLst>
          </p:cNvPr>
          <p:cNvSpPr>
            <a:spLocks noGrp="1"/>
          </p:cNvSpPr>
          <p:nvPr/>
        </p:nvSpPr>
        <p:spPr>
          <a:xfrm>
            <a:off x="2857500" y="3981450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FA2933-AFB8-4D53-9DD0-A5FEF6B42754}"/>
              </a:ext>
            </a:extLst>
          </p:cNvPr>
          <p:cNvSpPr>
            <a:spLocks noGrp="1"/>
          </p:cNvSpPr>
          <p:nvPr/>
        </p:nvSpPr>
        <p:spPr>
          <a:xfrm>
            <a:off x="3667125" y="3743325"/>
            <a:ext cx="171450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10B369-1959-4237-AEB2-74300DD8983F}"/>
              </a:ext>
            </a:extLst>
          </p:cNvPr>
          <p:cNvSpPr>
            <a:spLocks noGrp="1"/>
          </p:cNvSpPr>
          <p:nvPr/>
        </p:nvSpPr>
        <p:spPr>
          <a:xfrm>
            <a:off x="3810000" y="38862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10F1A7B-6286-454A-A11D-C9EDE960BB03}"/>
              </a:ext>
            </a:extLst>
          </p:cNvPr>
          <p:cNvSpPr>
            <a:spLocks noGrp="1"/>
          </p:cNvSpPr>
          <p:nvPr/>
        </p:nvSpPr>
        <p:spPr>
          <a:xfrm>
            <a:off x="2857500" y="4648200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7ADF0B-99DB-4459-8B94-727CE85590C8}"/>
              </a:ext>
            </a:extLst>
          </p:cNvPr>
          <p:cNvSpPr>
            <a:spLocks noGrp="1"/>
          </p:cNvSpPr>
          <p:nvPr/>
        </p:nvSpPr>
        <p:spPr>
          <a:xfrm>
            <a:off x="3667125" y="4410075"/>
            <a:ext cx="171450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701E3E-F201-4A68-9DDB-BCD509BE0482}"/>
              </a:ext>
            </a:extLst>
          </p:cNvPr>
          <p:cNvSpPr>
            <a:spLocks noGrp="1"/>
          </p:cNvSpPr>
          <p:nvPr/>
        </p:nvSpPr>
        <p:spPr>
          <a:xfrm>
            <a:off x="3810000" y="4552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FF500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A91B160-19ED-4DFA-ACA8-2E661C4E8020}"/>
              </a:ext>
            </a:extLst>
          </p:cNvPr>
          <p:cNvSpPr>
            <a:spLocks noGrp="1"/>
          </p:cNvSpPr>
          <p:nvPr/>
        </p:nvSpPr>
        <p:spPr>
          <a:xfrm>
            <a:off x="6629634" y="2571750"/>
            <a:ext cx="44862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많은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부하·넓은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범위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8AD0DD4-9121-445A-95C6-AF1F36FE0805}"/>
              </a:ext>
            </a:extLst>
          </p:cNvPr>
          <p:cNvSpPr>
            <a:spLocks noGrp="1"/>
          </p:cNvSpPr>
          <p:nvPr/>
        </p:nvSpPr>
        <p:spPr>
          <a:xfrm>
            <a:off x="6591301" y="3095625"/>
            <a:ext cx="49149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입력 부하 및 배선 </a:t>
            </a:r>
            <a:r>
              <a:rPr lang="en-US" altLang="ko-KR" dirty="0"/>
              <a:t>Capacitance </a:t>
            </a:r>
            <a:r>
              <a:rPr lang="ko-KR" altLang="en-US" dirty="0"/>
              <a:t>증가 가능</a:t>
            </a:r>
            <a:br>
              <a:rPr lang="ko-KR" altLang="en-US" dirty="0"/>
            </a:br>
            <a:r>
              <a:rPr lang="en-US" altLang="ko-KR" dirty="0"/>
              <a:t>Routing Delay </a:t>
            </a:r>
            <a:r>
              <a:rPr lang="ko-KR" altLang="en-US" dirty="0"/>
              <a:t>증가 가능</a:t>
            </a:r>
            <a:br>
              <a:rPr lang="ko-KR" altLang="en-US" dirty="0"/>
            </a:br>
            <a:r>
              <a:rPr lang="en-US" altLang="ko-KR" dirty="0"/>
              <a:t>Setup Timing Slack </a:t>
            </a:r>
            <a:r>
              <a:rPr lang="ko-KR" altLang="en-US" dirty="0"/>
              <a:t>감소 가능</a:t>
            </a:r>
            <a:endParaRPr sz="20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3F343A6-EE73-48FE-9A73-5A90A3ABB80F}"/>
              </a:ext>
            </a:extLst>
          </p:cNvPr>
          <p:cNvSpPr>
            <a:spLocks noGrp="1"/>
          </p:cNvSpPr>
          <p:nvPr/>
        </p:nvSpPr>
        <p:spPr>
          <a:xfrm>
            <a:off x="6629634" y="4676775"/>
            <a:ext cx="44862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확인 후 필요한 경로만 최적화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DC5B88-02BE-4B6C-A801-EF27F83B2A11}"/>
              </a:ext>
            </a:extLst>
          </p:cNvPr>
          <p:cNvSpPr>
            <a:spLocks noGrp="1"/>
          </p:cNvSpPr>
          <p:nvPr/>
        </p:nvSpPr>
        <p:spPr>
          <a:xfrm>
            <a:off x="6629634" y="5191125"/>
            <a:ext cx="515720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Fan-out · </a:t>
            </a:r>
            <a:r>
              <a:rPr lang="ko-KR" altLang="en-US" dirty="0"/>
              <a:t>배선 거리 </a:t>
            </a:r>
            <a:r>
              <a:rPr lang="en-US" altLang="ko-KR" dirty="0"/>
              <a:t>· Timing Slack </a:t>
            </a:r>
            <a:r>
              <a:rPr lang="ko-KR" altLang="en-US" dirty="0"/>
              <a:t>확인</a:t>
            </a:r>
            <a:br>
              <a:rPr lang="ko-KR" altLang="en-US" dirty="0"/>
            </a:br>
            <a:r>
              <a:rPr lang="ko-KR" altLang="en-US" dirty="0"/>
              <a:t>해결</a:t>
            </a:r>
            <a:r>
              <a:rPr lang="en-US" altLang="ko-KR" dirty="0"/>
              <a:t>: </a:t>
            </a:r>
            <a:r>
              <a:rPr lang="ko-KR" altLang="en-US" dirty="0"/>
              <a:t>배치</a:t>
            </a:r>
            <a:r>
              <a:rPr lang="en-US" altLang="ko-KR" dirty="0"/>
              <a:t>·</a:t>
            </a:r>
            <a:r>
              <a:rPr lang="ko-KR" altLang="en-US" dirty="0"/>
              <a:t>배선 최적화 </a:t>
            </a:r>
            <a:r>
              <a:rPr lang="en-US" altLang="ko-KR" dirty="0"/>
              <a:t>· Buffer/Driver </a:t>
            </a:r>
            <a:r>
              <a:rPr lang="ko-KR" altLang="en-US" dirty="0"/>
              <a:t>분산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2291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9BE4D48D-66E7-402E-A556-67913A28E7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682175-46EF-4179-B276-F00747B270AE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Fan-out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해결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방법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드라이버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분산</a:t>
            </a:r>
            <a:r>
              <a:rPr lang="en-US" sz="3150" b="1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en-US" altLang="ko-KR" dirty="0"/>
              <a:t>Register </a:t>
            </a:r>
            <a:r>
              <a:rPr lang="en-US" altLang="ko-KR" dirty="0" smtClean="0"/>
              <a:t>Replication)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81EC1C-608C-4999-A212-1682113FF69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30DE03-5E18-4B8E-AAEE-07553796EE6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92717D-3620-4D29-8E33-2A8FFAD226A8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F85856-6CF4-4457-82B5-65A6AD16943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228D4B-8CC6-4B27-98CA-EEE3A49C4FE0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동일한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값을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내는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드라이버를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지역별로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나눠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부하와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범위</a:t>
            </a:r>
            <a:r>
              <a:rPr lang="en-US" sz="20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0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축소</a:t>
            </a:r>
            <a:endParaRPr sz="20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9627FA-ACBE-4A6E-B5BA-F006B56D27FF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Before · 단일 드라이버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2B21B6-B732-482A-9A9C-E8DD75DAD00B}"/>
              </a:ext>
            </a:extLst>
          </p:cNvPr>
          <p:cNvSpPr>
            <a:spLocks noGrp="1"/>
          </p:cNvSpPr>
          <p:nvPr/>
        </p:nvSpPr>
        <p:spPr>
          <a:xfrm>
            <a:off x="540836" y="3882482"/>
            <a:ext cx="12573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AE80D9-70BC-41D7-AA8B-CB3081B97EC7}"/>
              </a:ext>
            </a:extLst>
          </p:cNvPr>
          <p:cNvSpPr>
            <a:spLocks noGrp="1"/>
          </p:cNvSpPr>
          <p:nvPr/>
        </p:nvSpPr>
        <p:spPr>
          <a:xfrm>
            <a:off x="683711" y="4025357"/>
            <a:ext cx="971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REG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36EA42D-8B03-452B-8204-41ED48D39640}"/>
              </a:ext>
            </a:extLst>
          </p:cNvPr>
          <p:cNvSpPr>
            <a:spLocks noGrp="1"/>
          </p:cNvSpPr>
          <p:nvPr/>
        </p:nvSpPr>
        <p:spPr>
          <a:xfrm>
            <a:off x="1798136" y="4179383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91FEA8EA-A5B4-4D21-8CC4-B6D6276898E7}"/>
              </a:ext>
            </a:extLst>
          </p:cNvPr>
          <p:cNvSpPr>
            <a:spLocks noGrp="1"/>
          </p:cNvSpPr>
          <p:nvPr/>
        </p:nvSpPr>
        <p:spPr>
          <a:xfrm>
            <a:off x="2483936" y="3368132"/>
            <a:ext cx="953" cy="16002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B313078A-777A-47BA-8D1E-E0112D6B89AD}"/>
              </a:ext>
            </a:extLst>
          </p:cNvPr>
          <p:cNvSpPr>
            <a:spLocks noGrp="1"/>
          </p:cNvSpPr>
          <p:nvPr/>
        </p:nvSpPr>
        <p:spPr>
          <a:xfrm>
            <a:off x="2483936" y="3377657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BB74B0-5ED3-4FF8-966F-4543295B491E}"/>
              </a:ext>
            </a:extLst>
          </p:cNvPr>
          <p:cNvSpPr>
            <a:spLocks noGrp="1"/>
          </p:cNvSpPr>
          <p:nvPr/>
        </p:nvSpPr>
        <p:spPr>
          <a:xfrm>
            <a:off x="3169736" y="3130007"/>
            <a:ext cx="167640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6B4469-4A2D-4F61-9491-770137506265}"/>
              </a:ext>
            </a:extLst>
          </p:cNvPr>
          <p:cNvSpPr>
            <a:spLocks noGrp="1"/>
          </p:cNvSpPr>
          <p:nvPr/>
        </p:nvSpPr>
        <p:spPr>
          <a:xfrm>
            <a:off x="3312611" y="3272882"/>
            <a:ext cx="1390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A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C064CAD8-5236-40E5-AD7E-9A6522B858AA}"/>
              </a:ext>
            </a:extLst>
          </p:cNvPr>
          <p:cNvSpPr>
            <a:spLocks noGrp="1"/>
          </p:cNvSpPr>
          <p:nvPr/>
        </p:nvSpPr>
        <p:spPr>
          <a:xfrm>
            <a:off x="2483936" y="4177757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90C7AE-38AE-4178-95D9-40FA70BDE386}"/>
              </a:ext>
            </a:extLst>
          </p:cNvPr>
          <p:cNvSpPr>
            <a:spLocks noGrp="1"/>
          </p:cNvSpPr>
          <p:nvPr/>
        </p:nvSpPr>
        <p:spPr>
          <a:xfrm>
            <a:off x="3169736" y="3930107"/>
            <a:ext cx="167640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B2D50F-1E4D-4876-9ADB-BA113FB74089}"/>
              </a:ext>
            </a:extLst>
          </p:cNvPr>
          <p:cNvSpPr>
            <a:spLocks noGrp="1"/>
          </p:cNvSpPr>
          <p:nvPr/>
        </p:nvSpPr>
        <p:spPr>
          <a:xfrm>
            <a:off x="3312611" y="4072982"/>
            <a:ext cx="1390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</a:t>
            </a: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B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E5CAC19-F73A-4638-A89D-5CDEBC685529}"/>
              </a:ext>
            </a:extLst>
          </p:cNvPr>
          <p:cNvSpPr>
            <a:spLocks noGrp="1"/>
          </p:cNvSpPr>
          <p:nvPr/>
        </p:nvSpPr>
        <p:spPr>
          <a:xfrm>
            <a:off x="2483936" y="4977857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D3909A-F859-4CF1-98B8-DCA376CF7EA9}"/>
              </a:ext>
            </a:extLst>
          </p:cNvPr>
          <p:cNvSpPr>
            <a:spLocks noGrp="1"/>
          </p:cNvSpPr>
          <p:nvPr/>
        </p:nvSpPr>
        <p:spPr>
          <a:xfrm>
            <a:off x="3169736" y="4730207"/>
            <a:ext cx="167640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1827B4-3D64-40DF-97A6-20480E492172}"/>
              </a:ext>
            </a:extLst>
          </p:cNvPr>
          <p:cNvSpPr>
            <a:spLocks noGrp="1"/>
          </p:cNvSpPr>
          <p:nvPr/>
        </p:nvSpPr>
        <p:spPr>
          <a:xfrm>
            <a:off x="3312611" y="4873082"/>
            <a:ext cx="1390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C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2FE8E8-E99B-4AD0-AF1C-F3634E0DB8D8}"/>
              </a:ext>
            </a:extLst>
          </p:cNvPr>
          <p:cNvSpPr>
            <a:spLocks noGrp="1"/>
          </p:cNvSpPr>
          <p:nvPr/>
        </p:nvSpPr>
        <p:spPr>
          <a:xfrm>
            <a:off x="6562725" y="2543175"/>
            <a:ext cx="49434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After · </a:t>
            </a:r>
            <a:r>
              <a:rPr lang="en-US" altLang="ko-KR" dirty="0"/>
              <a:t>Register Replication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638DF1-2B03-4040-B25D-3A2303238798}"/>
              </a:ext>
            </a:extLst>
          </p:cNvPr>
          <p:cNvSpPr>
            <a:spLocks noGrp="1"/>
          </p:cNvSpPr>
          <p:nvPr/>
        </p:nvSpPr>
        <p:spPr>
          <a:xfrm>
            <a:off x="8391521" y="3000375"/>
            <a:ext cx="1142768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B5D979-9EA3-4E75-BCE7-7D24074D3C6C}"/>
              </a:ext>
            </a:extLst>
          </p:cNvPr>
          <p:cNvSpPr>
            <a:spLocks noGrp="1"/>
          </p:cNvSpPr>
          <p:nvPr/>
        </p:nvSpPr>
        <p:spPr>
          <a:xfrm>
            <a:off x="8534396" y="3143250"/>
            <a:ext cx="933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REG A</a:t>
            </a:r>
          </a:p>
        </p:txBody>
      </p:sp>
      <p:sp>
        <p:nvSpPr>
          <p:cNvPr id="25" name="오른쪽 화살표 24">
            <a:extLst>
              <a:ext uri="{FF2B5EF4-FFF2-40B4-BE49-F238E27FC236}">
                <a16:creationId xmlns:a16="http://schemas.microsoft.com/office/drawing/2014/main" id="{D79BF247-3BA7-4127-8E7F-D45390605492}"/>
              </a:ext>
            </a:extLst>
          </p:cNvPr>
          <p:cNvSpPr>
            <a:spLocks noGrp="1"/>
          </p:cNvSpPr>
          <p:nvPr/>
        </p:nvSpPr>
        <p:spPr>
          <a:xfrm>
            <a:off x="9602592" y="318135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CC56390-2F8F-47E0-8812-E5E2509F0C4A}"/>
              </a:ext>
            </a:extLst>
          </p:cNvPr>
          <p:cNvSpPr>
            <a:spLocks noGrp="1"/>
          </p:cNvSpPr>
          <p:nvPr/>
        </p:nvSpPr>
        <p:spPr>
          <a:xfrm>
            <a:off x="10193142" y="3000375"/>
            <a:ext cx="1593695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CE6973-F0F7-427C-A0D4-1B4506DCDDC5}"/>
              </a:ext>
            </a:extLst>
          </p:cNvPr>
          <p:cNvSpPr>
            <a:spLocks noGrp="1"/>
          </p:cNvSpPr>
          <p:nvPr/>
        </p:nvSpPr>
        <p:spPr>
          <a:xfrm>
            <a:off x="10336017" y="3143250"/>
            <a:ext cx="1420467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A 부하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84B81D2-F205-4EE2-8B0A-BED579134D36}"/>
              </a:ext>
            </a:extLst>
          </p:cNvPr>
          <p:cNvSpPr>
            <a:spLocks noGrp="1"/>
          </p:cNvSpPr>
          <p:nvPr/>
        </p:nvSpPr>
        <p:spPr>
          <a:xfrm>
            <a:off x="8391521" y="3867150"/>
            <a:ext cx="1142768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9ACE500-B879-40C9-A87B-4E472DA52882}"/>
              </a:ext>
            </a:extLst>
          </p:cNvPr>
          <p:cNvSpPr>
            <a:spLocks noGrp="1"/>
          </p:cNvSpPr>
          <p:nvPr/>
        </p:nvSpPr>
        <p:spPr>
          <a:xfrm>
            <a:off x="8534396" y="4010025"/>
            <a:ext cx="933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REG B</a:t>
            </a:r>
          </a:p>
        </p:txBody>
      </p:sp>
      <p:sp>
        <p:nvSpPr>
          <p:cNvPr id="30" name="오른쪽 화살표 29">
            <a:extLst>
              <a:ext uri="{FF2B5EF4-FFF2-40B4-BE49-F238E27FC236}">
                <a16:creationId xmlns:a16="http://schemas.microsoft.com/office/drawing/2014/main" id="{CED40780-69A5-4C29-9622-3C8DEEBBBEE1}"/>
              </a:ext>
            </a:extLst>
          </p:cNvPr>
          <p:cNvSpPr>
            <a:spLocks noGrp="1"/>
          </p:cNvSpPr>
          <p:nvPr/>
        </p:nvSpPr>
        <p:spPr>
          <a:xfrm>
            <a:off x="9602592" y="4048125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CCD9419-A841-409A-B792-1A0BBD31E6E8}"/>
              </a:ext>
            </a:extLst>
          </p:cNvPr>
          <p:cNvSpPr>
            <a:spLocks noGrp="1"/>
          </p:cNvSpPr>
          <p:nvPr/>
        </p:nvSpPr>
        <p:spPr>
          <a:xfrm>
            <a:off x="10193142" y="3867150"/>
            <a:ext cx="1593695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3D87853-77A8-4D7B-B329-18A00DFD9221}"/>
              </a:ext>
            </a:extLst>
          </p:cNvPr>
          <p:cNvSpPr>
            <a:spLocks noGrp="1"/>
          </p:cNvSpPr>
          <p:nvPr/>
        </p:nvSpPr>
        <p:spPr>
          <a:xfrm>
            <a:off x="10336017" y="4010025"/>
            <a:ext cx="1420467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B 부하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EFB0428-3D5E-434B-BF7D-706DCFDD4304}"/>
              </a:ext>
            </a:extLst>
          </p:cNvPr>
          <p:cNvSpPr>
            <a:spLocks noGrp="1"/>
          </p:cNvSpPr>
          <p:nvPr/>
        </p:nvSpPr>
        <p:spPr>
          <a:xfrm>
            <a:off x="8391521" y="4733925"/>
            <a:ext cx="1142768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7E292E-C5C1-4AB0-8E4C-FDAB22D8F0D8}"/>
              </a:ext>
            </a:extLst>
          </p:cNvPr>
          <p:cNvSpPr>
            <a:spLocks noGrp="1"/>
          </p:cNvSpPr>
          <p:nvPr/>
        </p:nvSpPr>
        <p:spPr>
          <a:xfrm>
            <a:off x="8534396" y="4876800"/>
            <a:ext cx="933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REG C</a:t>
            </a:r>
          </a:p>
        </p:txBody>
      </p:sp>
      <p:sp>
        <p:nvSpPr>
          <p:cNvPr id="35" name="오른쪽 화살표 34">
            <a:extLst>
              <a:ext uri="{FF2B5EF4-FFF2-40B4-BE49-F238E27FC236}">
                <a16:creationId xmlns:a16="http://schemas.microsoft.com/office/drawing/2014/main" id="{F7E50D98-4C1A-4267-88D0-3067A5356F2A}"/>
              </a:ext>
            </a:extLst>
          </p:cNvPr>
          <p:cNvSpPr>
            <a:spLocks noGrp="1"/>
          </p:cNvSpPr>
          <p:nvPr/>
        </p:nvSpPr>
        <p:spPr>
          <a:xfrm>
            <a:off x="9602592" y="491490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908E33-8AE6-44AF-AD2A-D10F36E65E26}"/>
              </a:ext>
            </a:extLst>
          </p:cNvPr>
          <p:cNvSpPr>
            <a:spLocks noGrp="1"/>
          </p:cNvSpPr>
          <p:nvPr/>
        </p:nvSpPr>
        <p:spPr>
          <a:xfrm>
            <a:off x="10193142" y="4733925"/>
            <a:ext cx="1593695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FAB848D-C0F1-4BC1-8853-5535254C3D8F}"/>
              </a:ext>
            </a:extLst>
          </p:cNvPr>
          <p:cNvSpPr>
            <a:spLocks noGrp="1"/>
          </p:cNvSpPr>
          <p:nvPr/>
        </p:nvSpPr>
        <p:spPr>
          <a:xfrm>
            <a:off x="10336017" y="4876800"/>
            <a:ext cx="1420467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C 부하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CE2419-A05F-41A5-AC45-D87EA0B0997D}"/>
              </a:ext>
            </a:extLst>
          </p:cNvPr>
          <p:cNvSpPr>
            <a:spLocks noGrp="1"/>
          </p:cNvSpPr>
          <p:nvPr/>
        </p:nvSpPr>
        <p:spPr>
          <a:xfrm>
            <a:off x="6562725" y="5448300"/>
            <a:ext cx="53244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각 </a:t>
            </a:r>
            <a:r>
              <a:rPr lang="ko-KR" altLang="en-US" dirty="0" err="1"/>
              <a:t>복제본은</a:t>
            </a:r>
            <a:r>
              <a:rPr lang="ko-KR" altLang="en-US" dirty="0"/>
              <a:t> 동일한 </a:t>
            </a:r>
            <a:r>
              <a:rPr lang="en-US" altLang="ko-KR" dirty="0" err="1"/>
              <a:t>Data·Clock·Enable·Reset</a:t>
            </a:r>
            <a:r>
              <a:rPr lang="en-US" altLang="ko-KR" dirty="0"/>
              <a:t> </a:t>
            </a:r>
            <a:r>
              <a:rPr lang="ko-KR" altLang="en-US" dirty="0"/>
              <a:t>조건을 사용</a:t>
            </a:r>
            <a:endParaRPr sz="165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DB87797-6FE4-44C8-9E55-ABEABDCA3BC1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구현 후 </a:t>
            </a:r>
            <a:r>
              <a:rPr lang="en-US" altLang="ko-KR" dirty="0"/>
              <a:t>Fan-out</a:t>
            </a:r>
            <a:r>
              <a:rPr lang="ko-KR" altLang="en-US" dirty="0"/>
              <a:t>과 </a:t>
            </a:r>
            <a:r>
              <a:rPr lang="en-US" altLang="ko-KR" dirty="0"/>
              <a:t>Timing Slack</a:t>
            </a:r>
            <a:r>
              <a:rPr lang="ko-KR" altLang="en-US" dirty="0"/>
              <a:t>을 확인하여 효과 검증 </a:t>
            </a:r>
            <a:r>
              <a:rPr lang="en-US" altLang="ko-KR" dirty="0"/>
              <a:t>· </a:t>
            </a:r>
            <a:r>
              <a:rPr lang="ko-KR" altLang="en-US" dirty="0"/>
              <a:t>단순 </a:t>
            </a:r>
            <a:r>
              <a:rPr lang="en-US" altLang="ko-KR" dirty="0"/>
              <a:t>RTL Buffer </a:t>
            </a:r>
            <a:r>
              <a:rPr lang="ko-KR" altLang="en-US" dirty="0"/>
              <a:t>삽입이나 </a:t>
            </a:r>
            <a:r>
              <a:rPr lang="en-US" altLang="ko-KR" dirty="0"/>
              <a:t>CDC Synchronizer</a:t>
            </a:r>
            <a:r>
              <a:rPr lang="ko-KR" altLang="en-US" dirty="0"/>
              <a:t>와는 목적이 다름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Register Replication</a:t>
            </a:r>
            <a:r>
              <a:rPr kumimoji="0" lang="ko-KR" altLang="ko-KR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22B21B6-B732-482A-9A9C-E8DD75DAD00B}"/>
              </a:ext>
            </a:extLst>
          </p:cNvPr>
          <p:cNvSpPr>
            <a:spLocks noGrp="1"/>
          </p:cNvSpPr>
          <p:nvPr/>
        </p:nvSpPr>
        <p:spPr>
          <a:xfrm>
            <a:off x="5761461" y="3852745"/>
            <a:ext cx="12573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6AE80D9-70BC-41D7-AA8B-CB3081B97EC7}"/>
              </a:ext>
            </a:extLst>
          </p:cNvPr>
          <p:cNvSpPr>
            <a:spLocks noGrp="1"/>
          </p:cNvSpPr>
          <p:nvPr/>
        </p:nvSpPr>
        <p:spPr>
          <a:xfrm>
            <a:off x="5870883" y="3995620"/>
            <a:ext cx="971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 </a:t>
            </a:r>
            <a:r>
              <a:rPr lang="en-US" dirty="0" smtClean="0"/>
              <a:t>DATA</a:t>
            </a:r>
            <a:endParaRPr sz="180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1" name="직선 연결선 50">
            <a:extLst>
              <a:ext uri="{FF2B5EF4-FFF2-40B4-BE49-F238E27FC236}">
                <a16:creationId xmlns:a16="http://schemas.microsoft.com/office/drawing/2014/main" id="{136EA42D-8B03-452B-8204-41ED48D39640}"/>
              </a:ext>
            </a:extLst>
          </p:cNvPr>
          <p:cNvSpPr>
            <a:spLocks noGrp="1"/>
          </p:cNvSpPr>
          <p:nvPr/>
        </p:nvSpPr>
        <p:spPr>
          <a:xfrm>
            <a:off x="7026894" y="4144640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52" name="직선 연결선 51">
            <a:extLst>
              <a:ext uri="{FF2B5EF4-FFF2-40B4-BE49-F238E27FC236}">
                <a16:creationId xmlns:a16="http://schemas.microsoft.com/office/drawing/2014/main" id="{91FEA8EA-A5B4-4D21-8CC4-B6D6276898E7}"/>
              </a:ext>
            </a:extLst>
          </p:cNvPr>
          <p:cNvSpPr>
            <a:spLocks noGrp="1"/>
          </p:cNvSpPr>
          <p:nvPr/>
        </p:nvSpPr>
        <p:spPr>
          <a:xfrm>
            <a:off x="7712694" y="3333389"/>
            <a:ext cx="953" cy="16002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B313078A-777A-47BA-8D1E-E0112D6B89AD}"/>
              </a:ext>
            </a:extLst>
          </p:cNvPr>
          <p:cNvSpPr>
            <a:spLocks noGrp="1"/>
          </p:cNvSpPr>
          <p:nvPr/>
        </p:nvSpPr>
        <p:spPr>
          <a:xfrm>
            <a:off x="7712694" y="3342914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54" name="직선 연결선 53">
            <a:extLst>
              <a:ext uri="{FF2B5EF4-FFF2-40B4-BE49-F238E27FC236}">
                <a16:creationId xmlns:a16="http://schemas.microsoft.com/office/drawing/2014/main" id="{C064CAD8-5236-40E5-AD7E-9A6522B858AA}"/>
              </a:ext>
            </a:extLst>
          </p:cNvPr>
          <p:cNvSpPr>
            <a:spLocks noGrp="1"/>
          </p:cNvSpPr>
          <p:nvPr/>
        </p:nvSpPr>
        <p:spPr>
          <a:xfrm>
            <a:off x="7712694" y="4143014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55" name="직선 연결선 54">
            <a:extLst>
              <a:ext uri="{FF2B5EF4-FFF2-40B4-BE49-F238E27FC236}">
                <a16:creationId xmlns:a16="http://schemas.microsoft.com/office/drawing/2014/main" id="{DE5CAC19-F73A-4638-A89D-5CDEBC685529}"/>
              </a:ext>
            </a:extLst>
          </p:cNvPr>
          <p:cNvSpPr>
            <a:spLocks noGrp="1"/>
          </p:cNvSpPr>
          <p:nvPr/>
        </p:nvSpPr>
        <p:spPr>
          <a:xfrm>
            <a:off x="7712694" y="4943114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</p:spTree>
    <p:extLst>
      <p:ext uri="{BB962C8B-B14F-4D97-AF65-F5344CB8AC3E}">
        <p14:creationId xmlns:p14="http://schemas.microsoft.com/office/powerpoint/2010/main" val="24147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14544EDA-2DEE-465E-98ED-7FE3802E8B1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BDF542-301B-4523-BF4C-5E7DF09DB3C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Fan-out: 클록과 일반 신호의 분배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4F2B24-95B3-4B49-8F2C-C315839C797A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CB3D8F-4E13-43EA-8401-6A6C536476E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F1B01D-DED2-4DCA-89C6-F21D0B83D3C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688849-5CDE-4FB7-BECE-7F1A96F98BB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3FCA25-8B41-4D72-AE90-53B60E150470}"/>
              </a:ext>
            </a:extLst>
          </p:cNvPr>
          <p:cNvSpPr>
            <a:spLocks noGrp="1"/>
          </p:cNvSpPr>
          <p:nvPr/>
        </p:nvSpPr>
        <p:spPr>
          <a:xfrm>
            <a:off x="685800" y="1769793"/>
            <a:ext cx="10820400" cy="716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Clock</a:t>
            </a:r>
            <a:r>
              <a:rPr lang="ko-KR" altLang="en-US" dirty="0"/>
              <a:t>도 매우 큰 </a:t>
            </a:r>
            <a:r>
              <a:rPr lang="en-US" altLang="ko-KR" dirty="0" smtClean="0"/>
              <a:t>Fan-out, </a:t>
            </a:r>
            <a:r>
              <a:rPr lang="ko-KR" altLang="en-US" dirty="0"/>
              <a:t>일반 배선이 아닌 전용 </a:t>
            </a:r>
            <a:r>
              <a:rPr lang="en-US" altLang="ko-KR" dirty="0"/>
              <a:t>Clock Network</a:t>
            </a:r>
            <a:r>
              <a:rPr lang="ko-KR" altLang="en-US" dirty="0"/>
              <a:t>를 사용하여 많은 </a:t>
            </a:r>
            <a:r>
              <a:rPr lang="en-US" altLang="ko-KR" dirty="0"/>
              <a:t>FF</a:t>
            </a:r>
            <a:r>
              <a:rPr lang="ko-KR" altLang="en-US" dirty="0"/>
              <a:t>에 낮은 </a:t>
            </a:r>
            <a:r>
              <a:rPr lang="en-US" altLang="ko-KR" dirty="0"/>
              <a:t>Skew</a:t>
            </a:r>
            <a:r>
              <a:rPr lang="ko-KR" altLang="en-US" dirty="0"/>
              <a:t>로 </a:t>
            </a:r>
            <a:r>
              <a:rPr lang="ko-KR" altLang="en-US" dirty="0" smtClean="0"/>
              <a:t>전달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676BB9-66EE-4BDB-B8AC-5004A9B5468C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일반 제어 신호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A1CCA8-B4F3-48DE-84A9-92EEB454DCC3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C8371B-8A31-4CB1-B21B-452FFD7A31E8}"/>
              </a:ext>
            </a:extLst>
          </p:cNvPr>
          <p:cNvSpPr>
            <a:spLocks noGrp="1"/>
          </p:cNvSpPr>
          <p:nvPr/>
        </p:nvSpPr>
        <p:spPr>
          <a:xfrm>
            <a:off x="828675" y="33337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제어 신호</a:t>
            </a:r>
          </a:p>
        </p:txBody>
      </p:sp>
      <p:sp>
        <p:nvSpPr>
          <p:cNvPr id="11" name="오른쪽 화살표 10">
            <a:extLst>
              <a:ext uri="{FF2B5EF4-FFF2-40B4-BE49-F238E27FC236}">
                <a16:creationId xmlns:a16="http://schemas.microsoft.com/office/drawing/2014/main" id="{09C29107-B19E-4258-9C38-E9FC5096637D}"/>
              </a:ext>
            </a:extLst>
          </p:cNvPr>
          <p:cNvSpPr>
            <a:spLocks noGrp="1"/>
          </p:cNvSpPr>
          <p:nvPr/>
        </p:nvSpPr>
        <p:spPr>
          <a:xfrm>
            <a:off x="2828925" y="3419475"/>
            <a:ext cx="4762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F05BB7-4E94-4923-BF62-C976D138BE57}"/>
              </a:ext>
            </a:extLst>
          </p:cNvPr>
          <p:cNvSpPr>
            <a:spLocks noGrp="1"/>
          </p:cNvSpPr>
          <p:nvPr/>
        </p:nvSpPr>
        <p:spPr>
          <a:xfrm>
            <a:off x="3467100" y="3190875"/>
            <a:ext cx="27146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8C2C0A-67C4-4056-8168-239C9009D59E}"/>
              </a:ext>
            </a:extLst>
          </p:cNvPr>
          <p:cNvSpPr>
            <a:spLocks noGrp="1"/>
          </p:cNvSpPr>
          <p:nvPr/>
        </p:nvSpPr>
        <p:spPr>
          <a:xfrm>
            <a:off x="3609975" y="3333750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일반 배선</a:t>
            </a:r>
          </a:p>
        </p:txBody>
      </p:sp>
      <p:sp>
        <p:nvSpPr>
          <p:cNvPr id="14" name="오른쪽 화살표 13">
            <a:extLst>
              <a:ext uri="{FF2B5EF4-FFF2-40B4-BE49-F238E27FC236}">
                <a16:creationId xmlns:a16="http://schemas.microsoft.com/office/drawing/2014/main" id="{6C5CCE8C-1699-485D-B4C5-5538A4B3A13D}"/>
              </a:ext>
            </a:extLst>
          </p:cNvPr>
          <p:cNvSpPr>
            <a:spLocks noGrp="1"/>
          </p:cNvSpPr>
          <p:nvPr/>
        </p:nvSpPr>
        <p:spPr>
          <a:xfrm>
            <a:off x="6324600" y="3419475"/>
            <a:ext cx="4762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CBE5AA-928C-42C3-A8BC-6D7EF003BBB4}"/>
              </a:ext>
            </a:extLst>
          </p:cNvPr>
          <p:cNvSpPr>
            <a:spLocks noGrp="1"/>
          </p:cNvSpPr>
          <p:nvPr/>
        </p:nvSpPr>
        <p:spPr>
          <a:xfrm>
            <a:off x="6962775" y="3190875"/>
            <a:ext cx="22860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9F70FF-D9A2-4A5B-A5C8-8FFF5B88FCDB}"/>
              </a:ext>
            </a:extLst>
          </p:cNvPr>
          <p:cNvSpPr>
            <a:spLocks noGrp="1"/>
          </p:cNvSpPr>
          <p:nvPr/>
        </p:nvSpPr>
        <p:spPr>
          <a:xfrm>
            <a:off x="7105650" y="33337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수신 로직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383704-E4A2-41E6-9DE3-0B90D69BABAA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클록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4CC447-ED5F-4C75-A311-54E2550242B9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428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D0CB4A-4CD6-4239-8861-6EEAC3E552B7}"/>
              </a:ext>
            </a:extLst>
          </p:cNvPr>
          <p:cNvSpPr>
            <a:spLocks noGrp="1"/>
          </p:cNvSpPr>
          <p:nvPr/>
        </p:nvSpPr>
        <p:spPr>
          <a:xfrm>
            <a:off x="828675" y="500062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20" name="오른쪽 화살표 19">
            <a:extLst>
              <a:ext uri="{FF2B5EF4-FFF2-40B4-BE49-F238E27FC236}">
                <a16:creationId xmlns:a16="http://schemas.microsoft.com/office/drawing/2014/main" id="{1EBB5FA4-F267-44B8-88ED-AFF7FC8FC7CC}"/>
              </a:ext>
            </a:extLst>
          </p:cNvPr>
          <p:cNvSpPr>
            <a:spLocks noGrp="1"/>
          </p:cNvSpPr>
          <p:nvPr/>
        </p:nvSpPr>
        <p:spPr>
          <a:xfrm>
            <a:off x="2257425" y="508635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D2E0A6-847F-47D3-901E-EE7E00D9C5F2}"/>
              </a:ext>
            </a:extLst>
          </p:cNvPr>
          <p:cNvSpPr>
            <a:spLocks noGrp="1"/>
          </p:cNvSpPr>
          <p:nvPr/>
        </p:nvSpPr>
        <p:spPr>
          <a:xfrm>
            <a:off x="2847975" y="4857750"/>
            <a:ext cx="15716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BA6F4D5-AD30-4983-A033-9DED9F3DBB31}"/>
              </a:ext>
            </a:extLst>
          </p:cNvPr>
          <p:cNvSpPr>
            <a:spLocks noGrp="1"/>
          </p:cNvSpPr>
          <p:nvPr/>
        </p:nvSpPr>
        <p:spPr>
          <a:xfrm>
            <a:off x="2990850" y="5000625"/>
            <a:ext cx="128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클록 버퍼</a:t>
            </a:r>
          </a:p>
        </p:txBody>
      </p:sp>
      <p:sp>
        <p:nvSpPr>
          <p:cNvPr id="23" name="오른쪽 화살표 22">
            <a:extLst>
              <a:ext uri="{FF2B5EF4-FFF2-40B4-BE49-F238E27FC236}">
                <a16:creationId xmlns:a16="http://schemas.microsoft.com/office/drawing/2014/main" id="{5BD5347B-959F-4C96-A2E0-50D56BAED41E}"/>
              </a:ext>
            </a:extLst>
          </p:cNvPr>
          <p:cNvSpPr>
            <a:spLocks noGrp="1"/>
          </p:cNvSpPr>
          <p:nvPr/>
        </p:nvSpPr>
        <p:spPr>
          <a:xfrm>
            <a:off x="4562475" y="508635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272367-0CD3-4580-9086-5E0FE1C7C0E2}"/>
              </a:ext>
            </a:extLst>
          </p:cNvPr>
          <p:cNvSpPr>
            <a:spLocks noGrp="1"/>
          </p:cNvSpPr>
          <p:nvPr/>
        </p:nvSpPr>
        <p:spPr>
          <a:xfrm>
            <a:off x="5153025" y="4857750"/>
            <a:ext cx="27146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5CBE95-942A-48A2-9C02-BE36272EBA00}"/>
              </a:ext>
            </a:extLst>
          </p:cNvPr>
          <p:cNvSpPr>
            <a:spLocks noGrp="1"/>
          </p:cNvSpPr>
          <p:nvPr/>
        </p:nvSpPr>
        <p:spPr>
          <a:xfrm>
            <a:off x="5295900" y="50006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전용 클록망</a:t>
            </a:r>
          </a:p>
        </p:txBody>
      </p:sp>
      <p:sp>
        <p:nvSpPr>
          <p:cNvPr id="26" name="오른쪽 화살표 25">
            <a:extLst>
              <a:ext uri="{FF2B5EF4-FFF2-40B4-BE49-F238E27FC236}">
                <a16:creationId xmlns:a16="http://schemas.microsoft.com/office/drawing/2014/main" id="{B4DE00C2-465D-4B58-BF6A-1A19A12797DE}"/>
              </a:ext>
            </a:extLst>
          </p:cNvPr>
          <p:cNvSpPr>
            <a:spLocks noGrp="1"/>
          </p:cNvSpPr>
          <p:nvPr/>
        </p:nvSpPr>
        <p:spPr>
          <a:xfrm>
            <a:off x="8010525" y="508635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E24BA25-D99A-4ABB-88BF-797ACB0E7892}"/>
              </a:ext>
            </a:extLst>
          </p:cNvPr>
          <p:cNvSpPr>
            <a:spLocks noGrp="1"/>
          </p:cNvSpPr>
          <p:nvPr/>
        </p:nvSpPr>
        <p:spPr>
          <a:xfrm>
            <a:off x="8601075" y="4857750"/>
            <a:ext cx="2905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769522-6063-44F7-AEAC-D2FA6181AB08}"/>
              </a:ext>
            </a:extLst>
          </p:cNvPr>
          <p:cNvSpPr>
            <a:spLocks noGrp="1"/>
          </p:cNvSpPr>
          <p:nvPr/>
        </p:nvSpPr>
        <p:spPr>
          <a:xfrm>
            <a:off x="8743950" y="5000625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다수 FF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510C09C-E594-4C06-8466-47D94E7DE093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Clock</a:t>
            </a:r>
            <a:r>
              <a:rPr lang="ko-KR" altLang="en-US" dirty="0"/>
              <a:t>은 일반 </a:t>
            </a:r>
            <a:r>
              <a:rPr lang="en-US" altLang="ko-KR" dirty="0"/>
              <a:t>Fan-out </a:t>
            </a:r>
            <a:r>
              <a:rPr lang="ko-KR" altLang="en-US" dirty="0"/>
              <a:t>신호와 같은 방식으로 </a:t>
            </a:r>
            <a:r>
              <a:rPr lang="en-US" altLang="ko-KR" dirty="0"/>
              <a:t>Register Replication</a:t>
            </a:r>
            <a:r>
              <a:rPr lang="ko-KR" altLang="en-US" dirty="0"/>
              <a:t>하지 않으며</a:t>
            </a:r>
            <a:r>
              <a:rPr lang="en-US" altLang="ko-KR" dirty="0"/>
              <a:t>, FPGA</a:t>
            </a:r>
            <a:r>
              <a:rPr lang="ko-KR" altLang="en-US" dirty="0"/>
              <a:t>의 전용 </a:t>
            </a:r>
            <a:r>
              <a:rPr lang="en-US" altLang="ko-KR" dirty="0"/>
              <a:t>Clock Resource</a:t>
            </a:r>
            <a:r>
              <a:rPr lang="ko-KR" altLang="en-US" dirty="0"/>
              <a:t>를 사용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10C09C-E594-4C06-8466-47D94E7DE093}"/>
              </a:ext>
            </a:extLst>
          </p:cNvPr>
          <p:cNvSpPr>
            <a:spLocks noGrp="1"/>
          </p:cNvSpPr>
          <p:nvPr/>
        </p:nvSpPr>
        <p:spPr>
          <a:xfrm>
            <a:off x="2621233" y="2638425"/>
            <a:ext cx="874209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일반 </a:t>
            </a:r>
            <a:r>
              <a:rPr lang="en-US" altLang="ko-KR" dirty="0"/>
              <a:t>Routing </a:t>
            </a:r>
            <a:r>
              <a:rPr lang="ko-KR" altLang="en-US" dirty="0"/>
              <a:t>사용</a:t>
            </a:r>
            <a:r>
              <a:rPr lang="en-US" altLang="ko-KR" dirty="0"/>
              <a:t>, Fan-out</a:t>
            </a:r>
            <a:r>
              <a:rPr lang="ko-KR" altLang="en-US" dirty="0"/>
              <a:t>이 크면 </a:t>
            </a:r>
            <a:r>
              <a:rPr lang="en-US" altLang="ko-KR" dirty="0"/>
              <a:t>Routing Delay </a:t>
            </a:r>
            <a:r>
              <a:rPr lang="ko-KR" altLang="en-US" dirty="0"/>
              <a:t>증가 가능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10C09C-E594-4C06-8466-47D94E7DE093}"/>
              </a:ext>
            </a:extLst>
          </p:cNvPr>
          <p:cNvSpPr>
            <a:spLocks noGrp="1"/>
          </p:cNvSpPr>
          <p:nvPr/>
        </p:nvSpPr>
        <p:spPr>
          <a:xfrm>
            <a:off x="1539193" y="4300537"/>
            <a:ext cx="874209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Clock Buffer + </a:t>
            </a:r>
            <a:r>
              <a:rPr lang="ko-KR" altLang="en-US" dirty="0"/>
              <a:t>전용 </a:t>
            </a:r>
            <a:r>
              <a:rPr lang="en-US" altLang="ko-KR" dirty="0"/>
              <a:t>Clock Network </a:t>
            </a:r>
            <a:r>
              <a:rPr lang="ko-KR" altLang="en-US" dirty="0"/>
              <a:t>사용</a:t>
            </a:r>
            <a:r>
              <a:rPr lang="en-US" altLang="ko-KR" dirty="0"/>
              <a:t>, FF </a:t>
            </a:r>
            <a:r>
              <a:rPr lang="ko-KR" altLang="en-US" dirty="0"/>
              <a:t>간 </a:t>
            </a:r>
            <a:r>
              <a:rPr lang="en-US" altLang="ko-KR" dirty="0"/>
              <a:t>Clock Skew </a:t>
            </a:r>
            <a:r>
              <a:rPr lang="ko-KR" altLang="en-US" dirty="0"/>
              <a:t>최소화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6951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82C8B69-9ECE-4F3F-9D65-DEFF6C0CC0F8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85396-20F5-4955-8056-22C507081995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08204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700" b="1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Q &amp; A</a:t>
            </a:r>
            <a:endParaRPr sz="570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ACF381-016B-4308-9FE8-88EEFEEB34C9}"/>
              </a:ext>
            </a:extLst>
          </p:cNvPr>
          <p:cNvSpPr>
            <a:spLocks noGrp="1"/>
          </p:cNvSpPr>
          <p:nvPr/>
        </p:nvSpPr>
        <p:spPr>
          <a:xfrm>
            <a:off x="4572000" y="4219575"/>
            <a:ext cx="3048000" cy="9525"/>
          </a:xfrm>
          <a:prstGeom prst="rect">
            <a:avLst/>
          </a:prstGeom>
          <a:solidFill>
            <a:srgbClr val="254D78"/>
          </a:solidFill>
          <a:ln w="14288">
            <a:solidFill>
              <a:srgbClr val="254D78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25CD73-16B2-4BE5-A7B9-82DCA84ED8A6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디지털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구현</a:t>
            </a:r>
            <a:endParaRPr sz="1875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612" y="5744231"/>
            <a:ext cx="1019175" cy="10191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C25CD73-16B2-4BE5-A7B9-82DCA84ED8A6}"/>
              </a:ext>
            </a:extLst>
          </p:cNvPr>
          <p:cNvSpPr>
            <a:spLocks noGrp="1"/>
          </p:cNvSpPr>
          <p:nvPr/>
        </p:nvSpPr>
        <p:spPr>
          <a:xfrm>
            <a:off x="11020424" y="5419725"/>
            <a:ext cx="938048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75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CODE</a:t>
            </a:r>
            <a:endParaRPr sz="1875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5639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2152</Words>
  <Application>Microsoft Office PowerPoint</Application>
  <DocSecurity>0</DocSecurity>
  <PresentationFormat>와이드스크린</PresentationFormat>
  <Paragraphs>544</Paragraphs>
  <Slides>34</Slides>
  <Notes>34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Aptos</vt:lpstr>
      <vt:lpstr>Arial Unicode MS</vt:lpstr>
      <vt:lpstr>Malgun Gothic</vt:lpstr>
      <vt:lpstr>Arial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kccistc</cp:lastModifiedBy>
  <cp:revision>41</cp:revision>
  <dcterms:created xsi:type="dcterms:W3CDTF">2026-10-22T06:35:22Z</dcterms:created>
  <dcterms:modified xsi:type="dcterms:W3CDTF">2026-10-23T01:55:18Z</dcterms:modified>
</cp:coreProperties>
</file>